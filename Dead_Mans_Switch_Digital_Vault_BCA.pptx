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0" r:id="rId3"/>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D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8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95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E17EF-F0FA-C0AE-AFA4-5DB252268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7C15A-2F68-CAA5-7A54-1659169FA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A351F-D8ED-B645-1D0F-9CCFB7E246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C0F2AB-D568-2F08-1098-1AD09658653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60226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C2733-E1FD-ACC9-A4EA-FC783D965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9EBD9-3ED9-9027-4342-6A5F3267A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F5A87-FEB6-288E-D182-14BBAB7EC8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0F5E1-D911-E439-FB6E-EDE1AA5A413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71206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9.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7.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2.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5"/>
        </a:solidFill>
        <a:effectLst/>
      </p:bgPr>
    </p:bg>
    <p:spTree>
      <p:nvGrpSpPr>
        <p:cNvPr id="1" name=""/>
        <p:cNvGrpSpPr/>
        <p:nvPr/>
      </p:nvGrpSpPr>
      <p:grpSpPr>
        <a:xfrm>
          <a:off x="0" y="0"/>
          <a:ext cx="0" cy="0"/>
          <a:chOff x="0" y="0"/>
          <a:chExt cx="0" cy="0"/>
        </a:xfrm>
      </p:grpSpPr>
      <p:sp>
        <p:nvSpPr>
          <p:cNvPr id="2" name="Shape 0"/>
          <p:cNvSpPr/>
          <p:nvPr/>
        </p:nvSpPr>
        <p:spPr>
          <a:xfrm>
            <a:off x="9875520" y="-2011680"/>
            <a:ext cx="5486400" cy="5486400"/>
          </a:xfrm>
          <a:prstGeom prst="ellipse">
            <a:avLst/>
          </a:prstGeom>
          <a:solidFill>
            <a:srgbClr val="13565F">
              <a:alpha val="60000"/>
            </a:srgbClr>
          </a:solidFill>
          <a:ln/>
        </p:spPr>
        <p:txBody>
          <a:bodyPr/>
          <a:lstStyle/>
          <a:p>
            <a:endParaRPr lang="en-IN"/>
          </a:p>
        </p:txBody>
      </p:sp>
      <p:sp>
        <p:nvSpPr>
          <p:cNvPr id="3" name="Shape 1"/>
          <p:cNvSpPr/>
          <p:nvPr/>
        </p:nvSpPr>
        <p:spPr>
          <a:xfrm>
            <a:off x="-2286000" y="4754880"/>
            <a:ext cx="4572000" cy="4572000"/>
          </a:xfrm>
          <a:prstGeom prst="ellipse">
            <a:avLst/>
          </a:prstGeom>
          <a:solidFill>
            <a:srgbClr val="14919B">
              <a:alpha val="22000"/>
            </a:srgbClr>
          </a:solidFill>
          <a:ln/>
        </p:spPr>
        <p:txBody>
          <a:bodyPr/>
          <a:lstStyle/>
          <a:p>
            <a:endParaRPr lang="en-IN"/>
          </a:p>
        </p:txBody>
      </p:sp>
      <p:sp>
        <p:nvSpPr>
          <p:cNvPr id="4" name="Text 2"/>
          <p:cNvSpPr/>
          <p:nvPr/>
        </p:nvSpPr>
        <p:spPr>
          <a:xfrm>
            <a:off x="0" y="365760"/>
            <a:ext cx="12188952" cy="292608"/>
          </a:xfrm>
          <a:prstGeom prst="rect">
            <a:avLst/>
          </a:prstGeom>
          <a:noFill/>
          <a:ln/>
        </p:spPr>
        <p:txBody>
          <a:bodyPr wrap="square" lIns="0" tIns="0" rIns="0" bIns="0" rtlCol="0" anchor="ctr"/>
          <a:lstStyle/>
          <a:p>
            <a:pPr marL="0" indent="0" algn="ctr">
              <a:buNone/>
            </a:pPr>
            <a:r>
              <a:rPr lang="en-US" sz="1600" b="1" kern="0" spc="200" dirty="0">
                <a:solidFill>
                  <a:srgbClr val="FFFFFF"/>
                </a:solidFill>
                <a:latin typeface="Calibri" pitchFamily="34" charset="0"/>
                <a:ea typeface="Calibri" pitchFamily="34" charset="-122"/>
                <a:cs typeface="Calibri" pitchFamily="34" charset="-120"/>
              </a:rPr>
              <a:t>IMMACULATE COLLEGE FOR WOMEN</a:t>
            </a:r>
            <a:endParaRPr lang="en-US" sz="1600" dirty="0"/>
          </a:p>
        </p:txBody>
      </p:sp>
      <p:sp>
        <p:nvSpPr>
          <p:cNvPr id="5" name="Text 3"/>
          <p:cNvSpPr/>
          <p:nvPr/>
        </p:nvSpPr>
        <p:spPr>
          <a:xfrm>
            <a:off x="0" y="640080"/>
            <a:ext cx="12188952" cy="237744"/>
          </a:xfrm>
          <a:prstGeom prst="rect">
            <a:avLst/>
          </a:prstGeom>
          <a:noFill/>
          <a:ln/>
        </p:spPr>
        <p:txBody>
          <a:bodyPr wrap="square" lIns="0" tIns="0" rIns="0" bIns="0" rtlCol="0" anchor="ctr"/>
          <a:lstStyle/>
          <a:p>
            <a:pPr marL="0" indent="0" algn="ctr">
              <a:buNone/>
            </a:pPr>
            <a:r>
              <a:rPr lang="en-US" sz="1300" i="1" dirty="0">
                <a:solidFill>
                  <a:schemeClr val="bg1">
                    <a:lumMod val="85000"/>
                  </a:schemeClr>
                </a:solidFill>
                <a:latin typeface="Calibri" pitchFamily="34" charset="0"/>
                <a:ea typeface="Calibri" pitchFamily="34" charset="-122"/>
                <a:cs typeface="Calibri" pitchFamily="34" charset="-120"/>
              </a:rPr>
              <a:t>Chinnakanganankuppam, Cuddalore</a:t>
            </a:r>
            <a:endParaRPr lang="en-US" sz="1300" dirty="0">
              <a:solidFill>
                <a:schemeClr val="bg1">
                  <a:lumMod val="85000"/>
                </a:schemeClr>
              </a:solidFill>
            </a:endParaRPr>
          </a:p>
        </p:txBody>
      </p:sp>
      <p:sp>
        <p:nvSpPr>
          <p:cNvPr id="6" name="Shape 4"/>
          <p:cNvSpPr/>
          <p:nvPr/>
        </p:nvSpPr>
        <p:spPr>
          <a:xfrm>
            <a:off x="5367528" y="1051560"/>
            <a:ext cx="1463040" cy="1463040"/>
          </a:xfrm>
          <a:prstGeom prst="ellipse">
            <a:avLst/>
          </a:prstGeom>
          <a:solidFill>
            <a:srgbClr val="13565F"/>
          </a:solidFill>
          <a:ln/>
        </p:spPr>
        <p:txBody>
          <a:bodyPr/>
          <a:lstStyle/>
          <a:p>
            <a:endParaRPr lang="en-IN"/>
          </a:p>
        </p:txBody>
      </p:sp>
      <p:pic>
        <p:nvPicPr>
          <p:cNvPr id="7" name="Image 0" descr="/home/claude/deadmanswitch/icons/vault_amber.png"/>
          <p:cNvPicPr>
            <a:picLocks noChangeAspect="1"/>
          </p:cNvPicPr>
          <p:nvPr/>
        </p:nvPicPr>
        <p:blipFill>
          <a:blip r:embed="rId3"/>
          <a:stretch>
            <a:fillRect/>
          </a:stretch>
        </p:blipFill>
        <p:spPr>
          <a:xfrm>
            <a:off x="5557723" y="1241755"/>
            <a:ext cx="1082650" cy="1082650"/>
          </a:xfrm>
          <a:prstGeom prst="rect">
            <a:avLst/>
          </a:prstGeom>
        </p:spPr>
      </p:pic>
      <p:sp>
        <p:nvSpPr>
          <p:cNvPr id="8" name="Shape 5"/>
          <p:cNvSpPr/>
          <p:nvPr/>
        </p:nvSpPr>
        <p:spPr>
          <a:xfrm>
            <a:off x="5367528" y="1051560"/>
            <a:ext cx="1463040" cy="1463040"/>
          </a:xfrm>
          <a:prstGeom prst="ellipse">
            <a:avLst/>
          </a:prstGeom>
          <a:ln w="25400">
            <a:solidFill>
              <a:srgbClr val="F4A300"/>
            </a:solidFill>
            <a:prstDash val="solid"/>
          </a:ln>
        </p:spPr>
        <p:txBody>
          <a:bodyPr/>
          <a:lstStyle/>
          <a:p>
            <a:endParaRPr lang="en-IN"/>
          </a:p>
        </p:txBody>
      </p:sp>
      <p:sp>
        <p:nvSpPr>
          <p:cNvPr id="9" name="Text 6"/>
          <p:cNvSpPr/>
          <p:nvPr/>
        </p:nvSpPr>
        <p:spPr>
          <a:xfrm>
            <a:off x="0" y="2697480"/>
            <a:ext cx="12188952" cy="292608"/>
          </a:xfrm>
          <a:prstGeom prst="rect">
            <a:avLst/>
          </a:prstGeom>
          <a:noFill/>
          <a:ln/>
        </p:spPr>
        <p:txBody>
          <a:bodyPr wrap="square" lIns="0" tIns="0" rIns="0" bIns="0" rtlCol="0" anchor="ctr"/>
          <a:lstStyle/>
          <a:p>
            <a:pPr marL="0" indent="0" algn="ctr">
              <a:buNone/>
            </a:pPr>
            <a:r>
              <a:rPr lang="en-US" sz="1300" b="1" kern="0" spc="300" dirty="0">
                <a:solidFill>
                  <a:schemeClr val="accent6">
                    <a:lumMod val="40000"/>
                    <a:lumOff val="60000"/>
                  </a:schemeClr>
                </a:solidFill>
                <a:latin typeface="Calibri" pitchFamily="34" charset="0"/>
                <a:ea typeface="Calibri" pitchFamily="34" charset="-122"/>
                <a:cs typeface="Calibri" pitchFamily="34" charset="-120"/>
              </a:rPr>
              <a:t>FINAL YEAR BCA PROJECT</a:t>
            </a:r>
            <a:endParaRPr lang="en-US" sz="1300" dirty="0">
              <a:solidFill>
                <a:schemeClr val="accent6">
                  <a:lumMod val="40000"/>
                  <a:lumOff val="60000"/>
                </a:schemeClr>
              </a:solidFill>
            </a:endParaRPr>
          </a:p>
        </p:txBody>
      </p:sp>
      <p:sp>
        <p:nvSpPr>
          <p:cNvPr id="10" name="Text 7"/>
          <p:cNvSpPr/>
          <p:nvPr/>
        </p:nvSpPr>
        <p:spPr>
          <a:xfrm>
            <a:off x="731520" y="2999232"/>
            <a:ext cx="10725912" cy="1325880"/>
          </a:xfrm>
          <a:prstGeom prst="rect">
            <a:avLst/>
          </a:prstGeom>
          <a:noFill/>
          <a:ln/>
        </p:spPr>
        <p:txBody>
          <a:bodyPr wrap="square" lIns="0" tIns="0" rIns="0" bIns="0" rtlCol="0" anchor="ctr"/>
          <a:lstStyle/>
          <a:p>
            <a:pPr marL="0" indent="0" algn="ctr">
              <a:lnSpc>
                <a:spcPct val="105000"/>
              </a:lnSpc>
              <a:buNone/>
            </a:pPr>
            <a:r>
              <a:rPr lang="en-US" sz="3800" b="1" dirty="0">
                <a:solidFill>
                  <a:srgbClr val="FFFFFF"/>
                </a:solidFill>
                <a:latin typeface="Cambria" pitchFamily="34" charset="0"/>
                <a:ea typeface="Cambria" pitchFamily="34" charset="-122"/>
                <a:cs typeface="Cambria" pitchFamily="34" charset="-120"/>
              </a:rPr>
              <a:t>Dead-Man's-Switch</a:t>
            </a:r>
            <a:endParaRPr lang="en-US" sz="3800" dirty="0"/>
          </a:p>
          <a:p>
            <a:pPr marL="0" indent="0" algn="ctr">
              <a:lnSpc>
                <a:spcPct val="105000"/>
              </a:lnSpc>
              <a:buNone/>
            </a:pPr>
            <a:r>
              <a:rPr lang="en-US" sz="3800" b="1" dirty="0">
                <a:solidFill>
                  <a:srgbClr val="FFFFFF"/>
                </a:solidFill>
                <a:latin typeface="Cambria" pitchFamily="34" charset="0"/>
                <a:ea typeface="Cambria" pitchFamily="34" charset="-122"/>
                <a:cs typeface="Cambria" pitchFamily="34" charset="-120"/>
              </a:rPr>
              <a:t>Digital Vault</a:t>
            </a:r>
            <a:endParaRPr lang="en-US" sz="3800" dirty="0"/>
          </a:p>
        </p:txBody>
      </p:sp>
      <p:sp>
        <p:nvSpPr>
          <p:cNvPr id="11" name="Shape 8"/>
          <p:cNvSpPr/>
          <p:nvPr/>
        </p:nvSpPr>
        <p:spPr>
          <a:xfrm>
            <a:off x="2788920" y="4405810"/>
            <a:ext cx="6611112" cy="1051560"/>
          </a:xfrm>
          <a:prstGeom prst="roundRect">
            <a:avLst>
              <a:gd name="adj" fmla="val 8696"/>
            </a:avLst>
          </a:prstGeom>
          <a:solidFill>
            <a:srgbClr val="13565F"/>
          </a:solidFill>
          <a:ln/>
        </p:spPr>
        <p:txBody>
          <a:bodyPr/>
          <a:lstStyle/>
          <a:p>
            <a:endParaRPr lang="en-IN"/>
          </a:p>
        </p:txBody>
      </p:sp>
      <p:sp>
        <p:nvSpPr>
          <p:cNvPr id="12" name="Text 9"/>
          <p:cNvSpPr/>
          <p:nvPr/>
        </p:nvSpPr>
        <p:spPr>
          <a:xfrm>
            <a:off x="2788920" y="4497250"/>
            <a:ext cx="6611112" cy="228600"/>
          </a:xfrm>
          <a:prstGeom prst="rect">
            <a:avLst/>
          </a:prstGeom>
          <a:noFill/>
          <a:ln/>
        </p:spPr>
        <p:txBody>
          <a:bodyPr wrap="square" lIns="0" tIns="0" rIns="0" bIns="0" rtlCol="0" anchor="ctr"/>
          <a:lstStyle/>
          <a:p>
            <a:pPr marL="0" indent="0" algn="ctr">
              <a:buNone/>
            </a:pPr>
            <a:r>
              <a:rPr lang="en-US" sz="900" b="1" kern="0" spc="200" dirty="0">
                <a:solidFill>
                  <a:srgbClr val="F4A300"/>
                </a:solidFill>
                <a:latin typeface="Calibri" pitchFamily="34" charset="0"/>
                <a:ea typeface="Calibri" pitchFamily="34" charset="-122"/>
                <a:cs typeface="Calibri" pitchFamily="34" charset="-120"/>
              </a:rPr>
              <a:t>PRESENTED BY</a:t>
            </a:r>
            <a:endParaRPr lang="en-US" sz="900" dirty="0"/>
          </a:p>
        </p:txBody>
      </p:sp>
      <p:sp>
        <p:nvSpPr>
          <p:cNvPr id="13" name="Text 10"/>
          <p:cNvSpPr/>
          <p:nvPr/>
        </p:nvSpPr>
        <p:spPr>
          <a:xfrm>
            <a:off x="2788920" y="4771570"/>
            <a:ext cx="6611112" cy="5943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Priyadharshini S      </a:t>
            </a:r>
            <a:r>
              <a:rPr lang="en-US" sz="1400" dirty="0" err="1">
                <a:solidFill>
                  <a:srgbClr val="FFFFFF"/>
                </a:solidFill>
                <a:latin typeface="Calibri" pitchFamily="34" charset="0"/>
                <a:ea typeface="Calibri" pitchFamily="34" charset="-122"/>
                <a:cs typeface="Calibri" pitchFamily="34" charset="-120"/>
              </a:rPr>
              <a:t>Swathy</a:t>
            </a:r>
            <a:r>
              <a:rPr lang="en-IN" sz="1400" dirty="0">
                <a:solidFill>
                  <a:srgbClr val="FFFFFF"/>
                </a:solidFill>
                <a:latin typeface="Calibri" pitchFamily="34" charset="0"/>
                <a:ea typeface="Calibri" pitchFamily="34" charset="-122"/>
                <a:cs typeface="Calibri" pitchFamily="34" charset="-120"/>
              </a:rPr>
              <a:t> B</a:t>
            </a:r>
            <a:r>
              <a:rPr lang="en-US" sz="1400" dirty="0">
                <a:solidFill>
                  <a:srgbClr val="FFFFFF"/>
                </a:solidFill>
                <a:latin typeface="Calibri" pitchFamily="34" charset="0"/>
                <a:ea typeface="Calibri" pitchFamily="34" charset="-122"/>
                <a:cs typeface="Calibri" pitchFamily="34" charset="-120"/>
              </a:rPr>
              <a:t>      Parameswari K     Sathyabama P</a:t>
            </a:r>
            <a:endParaRPr lang="en-US" sz="1400" dirty="0"/>
          </a:p>
        </p:txBody>
      </p:sp>
      <p:sp>
        <p:nvSpPr>
          <p:cNvPr id="14" name="Shape 11"/>
          <p:cNvSpPr/>
          <p:nvPr/>
        </p:nvSpPr>
        <p:spPr>
          <a:xfrm>
            <a:off x="4012619" y="5654770"/>
            <a:ext cx="4114800" cy="685800"/>
          </a:xfrm>
          <a:prstGeom prst="roundRect">
            <a:avLst>
              <a:gd name="adj" fmla="val 13333"/>
            </a:avLst>
          </a:prstGeom>
          <a:solidFill>
            <a:srgbClr val="0E4650"/>
          </a:solidFill>
          <a:ln/>
        </p:spPr>
        <p:txBody>
          <a:bodyPr/>
          <a:lstStyle/>
          <a:p>
            <a:endParaRPr lang="en-IN"/>
          </a:p>
        </p:txBody>
      </p:sp>
      <p:sp>
        <p:nvSpPr>
          <p:cNvPr id="15" name="Text 12"/>
          <p:cNvSpPr/>
          <p:nvPr/>
        </p:nvSpPr>
        <p:spPr>
          <a:xfrm>
            <a:off x="4012619" y="5654770"/>
            <a:ext cx="4114800" cy="685800"/>
          </a:xfrm>
          <a:prstGeom prst="rect">
            <a:avLst/>
          </a:prstGeom>
          <a:noFill/>
          <a:ln/>
        </p:spPr>
        <p:txBody>
          <a:bodyPr wrap="square" lIns="0" tIns="0" rIns="0" bIns="0" rtlCol="0" anchor="ctr"/>
          <a:lstStyle/>
          <a:p>
            <a:pPr marL="0" indent="0" algn="ctr">
              <a:buNone/>
            </a:pPr>
            <a:r>
              <a:rPr lang="en-US" sz="1150" dirty="0">
                <a:solidFill>
                  <a:srgbClr val="E8F2F1"/>
                </a:solidFill>
                <a:latin typeface="Calibri" pitchFamily="34" charset="0"/>
                <a:ea typeface="Calibri" pitchFamily="34" charset="-122"/>
                <a:cs typeface="Calibri" pitchFamily="34" charset="-120"/>
              </a:rPr>
              <a:t>Guide: Ms. R. Josephine Sahana M.sc(IT) </a:t>
            </a:r>
            <a:r>
              <a:rPr lang="en-US" sz="1150" dirty="0" err="1">
                <a:solidFill>
                  <a:srgbClr val="E8F2F1"/>
                </a:solidFill>
                <a:latin typeface="Calibri" pitchFamily="34" charset="0"/>
                <a:ea typeface="Calibri" pitchFamily="34" charset="-122"/>
                <a:cs typeface="Calibri" pitchFamily="34" charset="-120"/>
              </a:rPr>
              <a:t>M.Phil,NET</a:t>
            </a:r>
            <a:endParaRPr lang="en-US" sz="1150" dirty="0">
              <a:solidFill>
                <a:srgbClr val="E8F2F1"/>
              </a:solidFill>
              <a:latin typeface="Calibri" pitchFamily="34" charset="0"/>
              <a:ea typeface="Calibri" pitchFamily="34" charset="-122"/>
              <a:cs typeface="Calibri" pitchFamily="34" charset="-120"/>
            </a:endParaRPr>
          </a:p>
          <a:p>
            <a:pPr marL="0" indent="0" algn="ctr">
              <a:buNone/>
            </a:pPr>
            <a:r>
              <a:rPr lang="en-US" sz="1150" dirty="0">
                <a:solidFill>
                  <a:srgbClr val="E8F2F1"/>
                </a:solidFill>
                <a:latin typeface="Calibri" pitchFamily="34" charset="0"/>
                <a:ea typeface="Calibri" pitchFamily="34" charset="-122"/>
                <a:cs typeface="Calibri" pitchFamily="34" charset="-120"/>
              </a:rPr>
              <a:t>  •   Department of Computer Applications</a:t>
            </a:r>
            <a:endParaRPr lang="en-US" sz="1150" dirty="0"/>
          </a:p>
        </p:txBody>
      </p:sp>
      <p:pic>
        <p:nvPicPr>
          <p:cNvPr id="19" name="Picture 18">
            <a:extLst>
              <a:ext uri="{FF2B5EF4-FFF2-40B4-BE49-F238E27FC236}">
                <a16:creationId xmlns:a16="http://schemas.microsoft.com/office/drawing/2014/main" id="{9A82B5D5-1982-39EA-6A9B-0A47579AFBBF}"/>
              </a:ext>
            </a:extLst>
          </p:cNvPr>
          <p:cNvPicPr>
            <a:picLocks noChangeAspect="1"/>
          </p:cNvPicPr>
          <p:nvPr/>
        </p:nvPicPr>
        <p:blipFill>
          <a:blip r:embed="rId4"/>
          <a:stretch>
            <a:fillRect/>
          </a:stretch>
        </p:blipFill>
        <p:spPr>
          <a:xfrm>
            <a:off x="8069942" y="132878"/>
            <a:ext cx="621286" cy="799838"/>
          </a:xfrm>
          <a:prstGeom prst="rect">
            <a:avLst/>
          </a:prstGeom>
        </p:spPr>
      </p:pic>
      <p:pic>
        <p:nvPicPr>
          <p:cNvPr id="21" name="Picture 20">
            <a:extLst>
              <a:ext uri="{FF2B5EF4-FFF2-40B4-BE49-F238E27FC236}">
                <a16:creationId xmlns:a16="http://schemas.microsoft.com/office/drawing/2014/main" id="{26CFE245-0DBF-A73C-F0F2-A19C7CE64037}"/>
              </a:ext>
            </a:extLst>
          </p:cNvPr>
          <p:cNvPicPr>
            <a:picLocks noChangeAspect="1"/>
          </p:cNvPicPr>
          <p:nvPr/>
        </p:nvPicPr>
        <p:blipFill>
          <a:blip r:embed="rId5"/>
          <a:stretch>
            <a:fillRect/>
          </a:stretch>
        </p:blipFill>
        <p:spPr>
          <a:xfrm>
            <a:off x="3294739" y="138030"/>
            <a:ext cx="848936" cy="8056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A"/>
        </a:solidFill>
        <a:effectLst/>
      </p:bgPr>
    </p:bg>
    <p:spTree>
      <p:nvGrpSpPr>
        <p:cNvPr id="1" name="">
          <a:extLst>
            <a:ext uri="{FF2B5EF4-FFF2-40B4-BE49-F238E27FC236}">
              <a16:creationId xmlns:a16="http://schemas.microsoft.com/office/drawing/2014/main" id="{8A8BFB8B-CABB-784A-5A39-899C0EC808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563A69-8813-D636-005B-8140B358E42C}"/>
              </a:ext>
            </a:extLst>
          </p:cNvPr>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DMS</a:t>
            </a:r>
            <a:endParaRPr lang="en-US" sz="1300" dirty="0"/>
          </a:p>
        </p:txBody>
      </p:sp>
      <p:sp>
        <p:nvSpPr>
          <p:cNvPr id="3" name="Text 1">
            <a:extLst>
              <a:ext uri="{FF2B5EF4-FFF2-40B4-BE49-F238E27FC236}">
                <a16:creationId xmlns:a16="http://schemas.microsoft.com/office/drawing/2014/main" id="{26432A62-49DA-DE43-1134-991FC7AAEC11}"/>
              </a:ext>
            </a:extLst>
          </p:cNvPr>
          <p:cNvSpPr/>
          <p:nvPr/>
        </p:nvSpPr>
        <p:spPr>
          <a:xfrm>
            <a:off x="548640" y="564533"/>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rPr>
              <a:t>Content</a:t>
            </a:r>
            <a:endParaRPr lang="en-US" sz="3000" dirty="0"/>
          </a:p>
        </p:txBody>
      </p:sp>
      <p:sp>
        <p:nvSpPr>
          <p:cNvPr id="4" name="Shape 2">
            <a:extLst>
              <a:ext uri="{FF2B5EF4-FFF2-40B4-BE49-F238E27FC236}">
                <a16:creationId xmlns:a16="http://schemas.microsoft.com/office/drawing/2014/main" id="{7D2D8592-2F66-F0CA-E235-87CF000D6EA7}"/>
              </a:ext>
            </a:extLst>
          </p:cNvPr>
          <p:cNvSpPr/>
          <p:nvPr/>
        </p:nvSpPr>
        <p:spPr>
          <a:xfrm>
            <a:off x="1831959" y="1640106"/>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Abstract</a:t>
            </a:r>
          </a:p>
        </p:txBody>
      </p:sp>
      <p:sp>
        <p:nvSpPr>
          <p:cNvPr id="32" name="Text 23">
            <a:extLst>
              <a:ext uri="{FF2B5EF4-FFF2-40B4-BE49-F238E27FC236}">
                <a16:creationId xmlns:a16="http://schemas.microsoft.com/office/drawing/2014/main" id="{BBFF7F53-8A1F-CC37-E914-9FEAF38E4A9E}"/>
              </a:ext>
            </a:extLst>
          </p:cNvPr>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3" name="Text 24">
            <a:extLst>
              <a:ext uri="{FF2B5EF4-FFF2-40B4-BE49-F238E27FC236}">
                <a16:creationId xmlns:a16="http://schemas.microsoft.com/office/drawing/2014/main" id="{4598C40D-AB23-CD00-CBB4-619887591C27}"/>
              </a:ext>
            </a:extLst>
          </p:cNvPr>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2</a:t>
            </a:r>
            <a:endParaRPr lang="en-US" sz="900" dirty="0"/>
          </a:p>
        </p:txBody>
      </p:sp>
      <p:sp>
        <p:nvSpPr>
          <p:cNvPr id="37" name="Shape 2">
            <a:extLst>
              <a:ext uri="{FF2B5EF4-FFF2-40B4-BE49-F238E27FC236}">
                <a16:creationId xmlns:a16="http://schemas.microsoft.com/office/drawing/2014/main" id="{E49DCB57-F4DF-2D66-89DC-4E06D317A1E4}"/>
              </a:ext>
            </a:extLst>
          </p:cNvPr>
          <p:cNvSpPr/>
          <p:nvPr/>
        </p:nvSpPr>
        <p:spPr>
          <a:xfrm>
            <a:off x="1846476" y="2375718"/>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Existing System</a:t>
            </a:r>
          </a:p>
        </p:txBody>
      </p:sp>
      <p:sp>
        <p:nvSpPr>
          <p:cNvPr id="39" name="Shape 2">
            <a:extLst>
              <a:ext uri="{FF2B5EF4-FFF2-40B4-BE49-F238E27FC236}">
                <a16:creationId xmlns:a16="http://schemas.microsoft.com/office/drawing/2014/main" id="{112D21A5-2581-33D8-0208-932527916A4F}"/>
              </a:ext>
            </a:extLst>
          </p:cNvPr>
          <p:cNvSpPr/>
          <p:nvPr/>
        </p:nvSpPr>
        <p:spPr>
          <a:xfrm>
            <a:off x="1853735" y="3195775"/>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Proposed System</a:t>
            </a:r>
          </a:p>
        </p:txBody>
      </p:sp>
      <p:sp>
        <p:nvSpPr>
          <p:cNvPr id="41" name="Shape 2">
            <a:extLst>
              <a:ext uri="{FF2B5EF4-FFF2-40B4-BE49-F238E27FC236}">
                <a16:creationId xmlns:a16="http://schemas.microsoft.com/office/drawing/2014/main" id="{A5E2F6EA-62EB-0410-07DE-6C2373F6A52A}"/>
              </a:ext>
            </a:extLst>
          </p:cNvPr>
          <p:cNvSpPr/>
          <p:nvPr/>
        </p:nvSpPr>
        <p:spPr>
          <a:xfrm>
            <a:off x="1839220" y="3950515"/>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Objectives</a:t>
            </a:r>
          </a:p>
        </p:txBody>
      </p:sp>
      <p:sp>
        <p:nvSpPr>
          <p:cNvPr id="43" name="Shape 2">
            <a:extLst>
              <a:ext uri="{FF2B5EF4-FFF2-40B4-BE49-F238E27FC236}">
                <a16:creationId xmlns:a16="http://schemas.microsoft.com/office/drawing/2014/main" id="{1F315DDB-A08B-108A-3262-EE12AD0F6882}"/>
              </a:ext>
            </a:extLst>
          </p:cNvPr>
          <p:cNvSpPr/>
          <p:nvPr/>
        </p:nvSpPr>
        <p:spPr>
          <a:xfrm>
            <a:off x="1860994" y="4785087"/>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Technologies used</a:t>
            </a:r>
          </a:p>
        </p:txBody>
      </p:sp>
      <p:sp>
        <p:nvSpPr>
          <p:cNvPr id="45" name="Shape 2">
            <a:extLst>
              <a:ext uri="{FF2B5EF4-FFF2-40B4-BE49-F238E27FC236}">
                <a16:creationId xmlns:a16="http://schemas.microsoft.com/office/drawing/2014/main" id="{987A4854-DD49-8EA2-73DD-561296471535}"/>
              </a:ext>
            </a:extLst>
          </p:cNvPr>
          <p:cNvSpPr/>
          <p:nvPr/>
        </p:nvSpPr>
        <p:spPr>
          <a:xfrm>
            <a:off x="6810368" y="1654618"/>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Main Modules</a:t>
            </a:r>
          </a:p>
        </p:txBody>
      </p:sp>
      <p:sp>
        <p:nvSpPr>
          <p:cNvPr id="47" name="Shape 2">
            <a:extLst>
              <a:ext uri="{FF2B5EF4-FFF2-40B4-BE49-F238E27FC236}">
                <a16:creationId xmlns:a16="http://schemas.microsoft.com/office/drawing/2014/main" id="{8239C30D-D282-37C4-8677-BFAE699F97BE}"/>
              </a:ext>
            </a:extLst>
          </p:cNvPr>
          <p:cNvSpPr/>
          <p:nvPr/>
        </p:nvSpPr>
        <p:spPr>
          <a:xfrm>
            <a:off x="6817623" y="2373072"/>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System Workflow</a:t>
            </a:r>
          </a:p>
        </p:txBody>
      </p:sp>
      <p:sp>
        <p:nvSpPr>
          <p:cNvPr id="49" name="Shape 2">
            <a:extLst>
              <a:ext uri="{FF2B5EF4-FFF2-40B4-BE49-F238E27FC236}">
                <a16:creationId xmlns:a16="http://schemas.microsoft.com/office/drawing/2014/main" id="{22A4BFE2-D044-8E67-4908-47DF75C69D9E}"/>
              </a:ext>
            </a:extLst>
          </p:cNvPr>
          <p:cNvSpPr/>
          <p:nvPr/>
        </p:nvSpPr>
        <p:spPr>
          <a:xfrm>
            <a:off x="6839394" y="3178616"/>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Expected Outcomes</a:t>
            </a:r>
          </a:p>
        </p:txBody>
      </p:sp>
      <p:sp>
        <p:nvSpPr>
          <p:cNvPr id="51" name="Shape 2">
            <a:extLst>
              <a:ext uri="{FF2B5EF4-FFF2-40B4-BE49-F238E27FC236}">
                <a16:creationId xmlns:a16="http://schemas.microsoft.com/office/drawing/2014/main" id="{96A793E2-8094-BBA3-5397-5D429AD092E5}"/>
              </a:ext>
            </a:extLst>
          </p:cNvPr>
          <p:cNvSpPr/>
          <p:nvPr/>
        </p:nvSpPr>
        <p:spPr>
          <a:xfrm>
            <a:off x="6853909" y="4034965"/>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Future Enhancements</a:t>
            </a:r>
          </a:p>
        </p:txBody>
      </p:sp>
      <p:sp>
        <p:nvSpPr>
          <p:cNvPr id="53" name="Shape 2">
            <a:extLst>
              <a:ext uri="{FF2B5EF4-FFF2-40B4-BE49-F238E27FC236}">
                <a16:creationId xmlns:a16="http://schemas.microsoft.com/office/drawing/2014/main" id="{BC2FF70A-2799-3AEE-9110-16FAB5FD25CF}"/>
              </a:ext>
            </a:extLst>
          </p:cNvPr>
          <p:cNvSpPr/>
          <p:nvPr/>
        </p:nvSpPr>
        <p:spPr>
          <a:xfrm>
            <a:off x="6846649" y="4796963"/>
            <a:ext cx="3021874" cy="521208"/>
          </a:xfrm>
          <a:prstGeom prst="roundRect">
            <a:avLst>
              <a:gd name="adj" fmla="val 10204"/>
            </a:avLst>
          </a:prstGeom>
          <a:solidFill>
            <a:srgbClr val="0B3D45"/>
          </a:solidFill>
          <a:ln>
            <a:solidFill>
              <a:srgbClr val="00B0F0"/>
            </a:solidFill>
          </a:ln>
        </p:spPr>
        <p:style>
          <a:lnRef idx="1">
            <a:schemeClr val="accent1"/>
          </a:lnRef>
          <a:fillRef idx="3">
            <a:schemeClr val="accent1"/>
          </a:fillRef>
          <a:effectRef idx="2">
            <a:schemeClr val="accent1"/>
          </a:effectRef>
          <a:fontRef idx="minor">
            <a:schemeClr val="lt1"/>
          </a:fontRef>
        </p:style>
        <p:txBody>
          <a:bodyPr/>
          <a:lstStyle/>
          <a:p>
            <a:pPr algn="ctr">
              <a:lnSpc>
                <a:spcPct val="150000"/>
              </a:lnSpc>
            </a:pPr>
            <a:r>
              <a:rPr lang="en-IN" dirty="0"/>
              <a:t>Conclusion</a:t>
            </a:r>
          </a:p>
        </p:txBody>
      </p:sp>
    </p:spTree>
    <p:extLst>
      <p:ext uri="{BB962C8B-B14F-4D97-AF65-F5344CB8AC3E}">
        <p14:creationId xmlns:p14="http://schemas.microsoft.com/office/powerpoint/2010/main" val="477981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A"/>
        </a:solidFill>
        <a:effectLst/>
      </p:bgPr>
    </p:bg>
    <p:spTree>
      <p:nvGrpSpPr>
        <p:cNvPr id="1" name="">
          <a:extLst>
            <a:ext uri="{FF2B5EF4-FFF2-40B4-BE49-F238E27FC236}">
              <a16:creationId xmlns:a16="http://schemas.microsoft.com/office/drawing/2014/main" id="{45A5F548-31CF-8C77-45CC-2720B5BE90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40021B9-17EA-D223-D5A0-B35B969D6E3B}"/>
              </a:ext>
            </a:extLst>
          </p:cNvPr>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INTRODUCTION</a:t>
            </a:r>
            <a:endParaRPr lang="en-US" sz="1300" dirty="0"/>
          </a:p>
        </p:txBody>
      </p:sp>
      <p:sp>
        <p:nvSpPr>
          <p:cNvPr id="3" name="Text 1">
            <a:extLst>
              <a:ext uri="{FF2B5EF4-FFF2-40B4-BE49-F238E27FC236}">
                <a16:creationId xmlns:a16="http://schemas.microsoft.com/office/drawing/2014/main" id="{6D96846A-2AE0-64F0-B208-C19D744BCECE}"/>
              </a:ext>
            </a:extLst>
          </p:cNvPr>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Abstract</a:t>
            </a:r>
            <a:endParaRPr lang="en-US" sz="3000" dirty="0"/>
          </a:p>
        </p:txBody>
      </p:sp>
      <p:sp>
        <p:nvSpPr>
          <p:cNvPr id="4" name="Shape 2">
            <a:extLst>
              <a:ext uri="{FF2B5EF4-FFF2-40B4-BE49-F238E27FC236}">
                <a16:creationId xmlns:a16="http://schemas.microsoft.com/office/drawing/2014/main" id="{02B43312-EE7E-4000-86B4-C8B22E9C42AA}"/>
              </a:ext>
            </a:extLst>
          </p:cNvPr>
          <p:cNvSpPr/>
          <p:nvPr/>
        </p:nvSpPr>
        <p:spPr>
          <a:xfrm>
            <a:off x="548640" y="1554480"/>
            <a:ext cx="6858000" cy="4480560"/>
          </a:xfrm>
          <a:prstGeom prst="roundRect">
            <a:avLst>
              <a:gd name="adj" fmla="val 2449"/>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a:extLst>
              <a:ext uri="{FF2B5EF4-FFF2-40B4-BE49-F238E27FC236}">
                <a16:creationId xmlns:a16="http://schemas.microsoft.com/office/drawing/2014/main" id="{1FE2D2BA-1784-3258-8C1A-E8DF090334FC}"/>
              </a:ext>
            </a:extLst>
          </p:cNvPr>
          <p:cNvSpPr/>
          <p:nvPr/>
        </p:nvSpPr>
        <p:spPr>
          <a:xfrm>
            <a:off x="914400" y="1874520"/>
            <a:ext cx="731520" cy="731520"/>
          </a:xfrm>
          <a:prstGeom prst="ellipse">
            <a:avLst/>
          </a:prstGeom>
          <a:solidFill>
            <a:srgbClr val="0B3D45"/>
          </a:solidFill>
          <a:ln/>
        </p:spPr>
        <p:txBody>
          <a:bodyPr/>
          <a:lstStyle/>
          <a:p>
            <a:endParaRPr lang="en-IN"/>
          </a:p>
        </p:txBody>
      </p:sp>
      <p:pic>
        <p:nvPicPr>
          <p:cNvPr id="6" name="Image 0" descr="/home/claude/deadmanswitch/icons/safe_white.png">
            <a:extLst>
              <a:ext uri="{FF2B5EF4-FFF2-40B4-BE49-F238E27FC236}">
                <a16:creationId xmlns:a16="http://schemas.microsoft.com/office/drawing/2014/main" id="{30B0C1DC-FD61-F1C1-93F6-92D084BDC1DC}"/>
              </a:ext>
            </a:extLst>
          </p:cNvPr>
          <p:cNvPicPr>
            <a:picLocks noChangeAspect="1"/>
          </p:cNvPicPr>
          <p:nvPr/>
        </p:nvPicPr>
        <p:blipFill>
          <a:blip r:embed="rId3"/>
          <a:stretch>
            <a:fillRect/>
          </a:stretch>
        </p:blipFill>
        <p:spPr>
          <a:xfrm>
            <a:off x="1009498" y="1969618"/>
            <a:ext cx="541325" cy="541325"/>
          </a:xfrm>
          <a:prstGeom prst="rect">
            <a:avLst/>
          </a:prstGeom>
        </p:spPr>
      </p:pic>
      <p:sp>
        <p:nvSpPr>
          <p:cNvPr id="7" name="Text 4">
            <a:extLst>
              <a:ext uri="{FF2B5EF4-FFF2-40B4-BE49-F238E27FC236}">
                <a16:creationId xmlns:a16="http://schemas.microsoft.com/office/drawing/2014/main" id="{E774C775-396C-87E4-A148-92B1A22595C4}"/>
              </a:ext>
            </a:extLst>
          </p:cNvPr>
          <p:cNvSpPr/>
          <p:nvPr/>
        </p:nvSpPr>
        <p:spPr>
          <a:xfrm>
            <a:off x="1874520" y="1810512"/>
            <a:ext cx="5257800" cy="1600200"/>
          </a:xfrm>
          <a:prstGeom prst="rect">
            <a:avLst/>
          </a:prstGeom>
          <a:noFill/>
          <a:ln/>
        </p:spPr>
        <p:txBody>
          <a:bodyPr wrap="square" lIns="0" tIns="0" rIns="0" bIns="0" rtlCol="0" anchor="t"/>
          <a:lstStyle/>
          <a:p>
            <a:pPr marL="0" indent="0">
              <a:lnSpc>
                <a:spcPct val="120000"/>
              </a:lnSpc>
              <a:buNone/>
            </a:pPr>
            <a:r>
              <a:rPr lang="en-US" sz="1350" dirty="0">
                <a:solidFill>
                  <a:srgbClr val="13293D"/>
                </a:solidFill>
                <a:latin typeface="Calibri" pitchFamily="34" charset="0"/>
                <a:ea typeface="Calibri" pitchFamily="34" charset="-122"/>
                <a:cs typeface="Calibri" pitchFamily="34" charset="-120"/>
              </a:rPr>
              <a:t>A Dead-Man's-Switch Digital Vault is a secure web application that stores confidential digital information and automatically shares it with trusted nominees if the owner remains inactive for a predefined period.</a:t>
            </a:r>
            <a:endParaRPr lang="en-US" sz="1350" dirty="0"/>
          </a:p>
        </p:txBody>
      </p:sp>
      <p:sp>
        <p:nvSpPr>
          <p:cNvPr id="8" name="Shape 5">
            <a:extLst>
              <a:ext uri="{FF2B5EF4-FFF2-40B4-BE49-F238E27FC236}">
                <a16:creationId xmlns:a16="http://schemas.microsoft.com/office/drawing/2014/main" id="{E0CC8003-DA3F-F1E7-EB1D-7DD28599F5B8}"/>
              </a:ext>
            </a:extLst>
          </p:cNvPr>
          <p:cNvSpPr/>
          <p:nvPr/>
        </p:nvSpPr>
        <p:spPr>
          <a:xfrm>
            <a:off x="914400" y="3611880"/>
            <a:ext cx="6035040" cy="0"/>
          </a:xfrm>
          <a:prstGeom prst="line">
            <a:avLst/>
          </a:prstGeom>
          <a:noFill/>
          <a:ln w="12700">
            <a:solidFill>
              <a:srgbClr val="E0EBEA"/>
            </a:solidFill>
            <a:prstDash val="solid"/>
          </a:ln>
        </p:spPr>
        <p:txBody>
          <a:bodyPr/>
          <a:lstStyle/>
          <a:p>
            <a:endParaRPr lang="en-IN"/>
          </a:p>
        </p:txBody>
      </p:sp>
      <p:sp>
        <p:nvSpPr>
          <p:cNvPr id="9" name="Text 6">
            <a:extLst>
              <a:ext uri="{FF2B5EF4-FFF2-40B4-BE49-F238E27FC236}">
                <a16:creationId xmlns:a16="http://schemas.microsoft.com/office/drawing/2014/main" id="{10152857-D1DE-09A5-2F63-23D36BEE92D8}"/>
              </a:ext>
            </a:extLst>
          </p:cNvPr>
          <p:cNvSpPr/>
          <p:nvPr/>
        </p:nvSpPr>
        <p:spPr>
          <a:xfrm>
            <a:off x="914400" y="3840480"/>
            <a:ext cx="6035040" cy="2011680"/>
          </a:xfrm>
          <a:prstGeom prst="rect">
            <a:avLst/>
          </a:prstGeom>
          <a:noFill/>
          <a:ln/>
        </p:spPr>
        <p:txBody>
          <a:bodyPr wrap="square" lIns="0" tIns="0" rIns="0" bIns="0" rtlCol="0" anchor="t"/>
          <a:lstStyle/>
          <a:p>
            <a:pPr marL="0" indent="0">
              <a:lnSpc>
                <a:spcPct val="120000"/>
              </a:lnSpc>
              <a:buNone/>
            </a:pPr>
            <a:r>
              <a:rPr lang="en-US" sz="1350" dirty="0">
                <a:solidFill>
                  <a:srgbClr val="13293D"/>
                </a:solidFill>
                <a:latin typeface="Calibri" pitchFamily="34" charset="0"/>
                <a:ea typeface="Calibri" pitchFamily="34" charset="-122"/>
                <a:cs typeface="Calibri" pitchFamily="34" charset="-120"/>
              </a:rPr>
              <a:t>The system periodically checks whether the user is active by sending reminder notifications. If the user responds, the vault remains locked. If the user fails to respond after multiple reminders, the stored information is securely shared with authorized nominees.</a:t>
            </a:r>
            <a:endParaRPr lang="en-US" sz="1350" dirty="0"/>
          </a:p>
        </p:txBody>
      </p:sp>
      <p:sp>
        <p:nvSpPr>
          <p:cNvPr id="10" name="Shape 7">
            <a:extLst>
              <a:ext uri="{FF2B5EF4-FFF2-40B4-BE49-F238E27FC236}">
                <a16:creationId xmlns:a16="http://schemas.microsoft.com/office/drawing/2014/main" id="{1B0A0BA3-B53D-4E21-286B-1F8F03F39D67}"/>
              </a:ext>
            </a:extLst>
          </p:cNvPr>
          <p:cNvSpPr/>
          <p:nvPr/>
        </p:nvSpPr>
        <p:spPr>
          <a:xfrm>
            <a:off x="7635240" y="1554480"/>
            <a:ext cx="4005072" cy="4480560"/>
          </a:xfrm>
          <a:prstGeom prst="roundRect">
            <a:avLst>
              <a:gd name="adj" fmla="val 2740"/>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11" name="Text 8">
            <a:extLst>
              <a:ext uri="{FF2B5EF4-FFF2-40B4-BE49-F238E27FC236}">
                <a16:creationId xmlns:a16="http://schemas.microsoft.com/office/drawing/2014/main" id="{F5FA5C69-0C35-899F-321D-B932EE71E560}"/>
              </a:ext>
            </a:extLst>
          </p:cNvPr>
          <p:cNvSpPr/>
          <p:nvPr/>
        </p:nvSpPr>
        <p:spPr>
          <a:xfrm>
            <a:off x="8001000" y="1828800"/>
            <a:ext cx="3291840" cy="274320"/>
          </a:xfrm>
          <a:prstGeom prst="rect">
            <a:avLst/>
          </a:prstGeom>
          <a:noFill/>
          <a:ln/>
        </p:spPr>
        <p:txBody>
          <a:bodyPr wrap="square" lIns="0" tIns="0" rIns="0" bIns="0" rtlCol="0" anchor="ctr"/>
          <a:lstStyle/>
          <a:p>
            <a:pPr marL="0" indent="0">
              <a:buNone/>
            </a:pPr>
            <a:r>
              <a:rPr lang="en-US" sz="1050" b="1" kern="0" spc="150" dirty="0">
                <a:solidFill>
                  <a:srgbClr val="F4A300"/>
                </a:solidFill>
                <a:latin typeface="Calibri" pitchFamily="34" charset="0"/>
                <a:ea typeface="Calibri" pitchFamily="34" charset="-122"/>
                <a:cs typeface="Calibri" pitchFamily="34" charset="-120"/>
              </a:rPr>
              <a:t>PROJECT FOCUS AREAS</a:t>
            </a:r>
            <a:endParaRPr lang="en-US" sz="1050" dirty="0"/>
          </a:p>
        </p:txBody>
      </p:sp>
      <p:sp>
        <p:nvSpPr>
          <p:cNvPr id="12" name="Shape 9">
            <a:extLst>
              <a:ext uri="{FF2B5EF4-FFF2-40B4-BE49-F238E27FC236}">
                <a16:creationId xmlns:a16="http://schemas.microsoft.com/office/drawing/2014/main" id="{C90465B4-598E-345E-C5B8-5804D1B6E1DF}"/>
              </a:ext>
            </a:extLst>
          </p:cNvPr>
          <p:cNvSpPr/>
          <p:nvPr/>
        </p:nvSpPr>
        <p:spPr>
          <a:xfrm>
            <a:off x="8001000" y="2286000"/>
            <a:ext cx="566928" cy="566928"/>
          </a:xfrm>
          <a:prstGeom prst="ellipse">
            <a:avLst/>
          </a:prstGeom>
          <a:solidFill>
            <a:srgbClr val="13565F"/>
          </a:solidFill>
          <a:ln/>
        </p:spPr>
        <p:txBody>
          <a:bodyPr/>
          <a:lstStyle/>
          <a:p>
            <a:endParaRPr lang="en-IN"/>
          </a:p>
        </p:txBody>
      </p:sp>
      <p:pic>
        <p:nvPicPr>
          <p:cNvPr id="13" name="Image 1" descr="/home/claude/deadmanswitch/icons/shield_amber.png">
            <a:extLst>
              <a:ext uri="{FF2B5EF4-FFF2-40B4-BE49-F238E27FC236}">
                <a16:creationId xmlns:a16="http://schemas.microsoft.com/office/drawing/2014/main" id="{B716E48F-F69D-A93D-D538-093934561BD8}"/>
              </a:ext>
            </a:extLst>
          </p:cNvPr>
          <p:cNvPicPr>
            <a:picLocks noChangeAspect="1"/>
          </p:cNvPicPr>
          <p:nvPr/>
        </p:nvPicPr>
        <p:blipFill>
          <a:blip r:embed="rId4"/>
          <a:stretch>
            <a:fillRect/>
          </a:stretch>
        </p:blipFill>
        <p:spPr>
          <a:xfrm>
            <a:off x="8074701" y="2359701"/>
            <a:ext cx="419527" cy="419527"/>
          </a:xfrm>
          <a:prstGeom prst="rect">
            <a:avLst/>
          </a:prstGeom>
        </p:spPr>
      </p:pic>
      <p:sp>
        <p:nvSpPr>
          <p:cNvPr id="14" name="Text 10">
            <a:extLst>
              <a:ext uri="{FF2B5EF4-FFF2-40B4-BE49-F238E27FC236}">
                <a16:creationId xmlns:a16="http://schemas.microsoft.com/office/drawing/2014/main" id="{3BD0F9BC-510E-5171-17F5-6A64911CDA65}"/>
              </a:ext>
            </a:extLst>
          </p:cNvPr>
          <p:cNvSpPr/>
          <p:nvPr/>
        </p:nvSpPr>
        <p:spPr>
          <a:xfrm>
            <a:off x="8732520" y="2286000"/>
            <a:ext cx="2743200" cy="566928"/>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Security</a:t>
            </a:r>
            <a:endParaRPr lang="en-US" sz="1400" dirty="0"/>
          </a:p>
        </p:txBody>
      </p:sp>
      <p:sp>
        <p:nvSpPr>
          <p:cNvPr id="15" name="Shape 11">
            <a:extLst>
              <a:ext uri="{FF2B5EF4-FFF2-40B4-BE49-F238E27FC236}">
                <a16:creationId xmlns:a16="http://schemas.microsoft.com/office/drawing/2014/main" id="{59093EFE-BF8A-B789-58F8-3192E7BBBB4D}"/>
              </a:ext>
            </a:extLst>
          </p:cNvPr>
          <p:cNvSpPr/>
          <p:nvPr/>
        </p:nvSpPr>
        <p:spPr>
          <a:xfrm>
            <a:off x="8001000" y="3200400"/>
            <a:ext cx="566928" cy="566928"/>
          </a:xfrm>
          <a:prstGeom prst="ellipse">
            <a:avLst/>
          </a:prstGeom>
          <a:solidFill>
            <a:srgbClr val="13565F"/>
          </a:solidFill>
          <a:ln/>
        </p:spPr>
        <p:txBody>
          <a:bodyPr/>
          <a:lstStyle/>
          <a:p>
            <a:endParaRPr lang="en-IN"/>
          </a:p>
        </p:txBody>
      </p:sp>
      <p:pic>
        <p:nvPicPr>
          <p:cNvPr id="16" name="Image 2" descr="/home/claude/deadmanswitch/icons/cogs_amber.png">
            <a:extLst>
              <a:ext uri="{FF2B5EF4-FFF2-40B4-BE49-F238E27FC236}">
                <a16:creationId xmlns:a16="http://schemas.microsoft.com/office/drawing/2014/main" id="{C61725A9-DA27-EE6D-E1B0-A52C8B581011}"/>
              </a:ext>
            </a:extLst>
          </p:cNvPr>
          <p:cNvPicPr>
            <a:picLocks noChangeAspect="1"/>
          </p:cNvPicPr>
          <p:nvPr/>
        </p:nvPicPr>
        <p:blipFill>
          <a:blip r:embed="rId5"/>
          <a:stretch>
            <a:fillRect/>
          </a:stretch>
        </p:blipFill>
        <p:spPr>
          <a:xfrm>
            <a:off x="8074701" y="3274101"/>
            <a:ext cx="419527" cy="419527"/>
          </a:xfrm>
          <a:prstGeom prst="rect">
            <a:avLst/>
          </a:prstGeom>
        </p:spPr>
      </p:pic>
      <p:sp>
        <p:nvSpPr>
          <p:cNvPr id="17" name="Text 12">
            <a:extLst>
              <a:ext uri="{FF2B5EF4-FFF2-40B4-BE49-F238E27FC236}">
                <a16:creationId xmlns:a16="http://schemas.microsoft.com/office/drawing/2014/main" id="{AD895BC0-8118-5356-FE9A-71B017A0EE53}"/>
              </a:ext>
            </a:extLst>
          </p:cNvPr>
          <p:cNvSpPr/>
          <p:nvPr/>
        </p:nvSpPr>
        <p:spPr>
          <a:xfrm>
            <a:off x="8732520" y="3200400"/>
            <a:ext cx="2743200" cy="566928"/>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Automation</a:t>
            </a:r>
            <a:endParaRPr lang="en-US" sz="1400" dirty="0"/>
          </a:p>
        </p:txBody>
      </p:sp>
      <p:sp>
        <p:nvSpPr>
          <p:cNvPr id="18" name="Shape 13">
            <a:extLst>
              <a:ext uri="{FF2B5EF4-FFF2-40B4-BE49-F238E27FC236}">
                <a16:creationId xmlns:a16="http://schemas.microsoft.com/office/drawing/2014/main" id="{F0E5429D-6B0A-7B0E-D2CC-A731E7C2048D}"/>
              </a:ext>
            </a:extLst>
          </p:cNvPr>
          <p:cNvSpPr/>
          <p:nvPr/>
        </p:nvSpPr>
        <p:spPr>
          <a:xfrm>
            <a:off x="8001000" y="4114800"/>
            <a:ext cx="566928" cy="566928"/>
          </a:xfrm>
          <a:prstGeom prst="ellipse">
            <a:avLst/>
          </a:prstGeom>
          <a:solidFill>
            <a:srgbClr val="13565F"/>
          </a:solidFill>
          <a:ln/>
        </p:spPr>
        <p:txBody>
          <a:bodyPr/>
          <a:lstStyle/>
          <a:p>
            <a:endParaRPr lang="en-IN"/>
          </a:p>
        </p:txBody>
      </p:sp>
      <p:pic>
        <p:nvPicPr>
          <p:cNvPr id="19" name="Image 3" descr="/home/claude/deadmanswitch/icons/userlock_amber.png">
            <a:extLst>
              <a:ext uri="{FF2B5EF4-FFF2-40B4-BE49-F238E27FC236}">
                <a16:creationId xmlns:a16="http://schemas.microsoft.com/office/drawing/2014/main" id="{90A235BA-2252-315A-B5EB-7482E4DE0871}"/>
              </a:ext>
            </a:extLst>
          </p:cNvPr>
          <p:cNvPicPr>
            <a:picLocks noChangeAspect="1"/>
          </p:cNvPicPr>
          <p:nvPr/>
        </p:nvPicPr>
        <p:blipFill>
          <a:blip r:embed="rId6"/>
          <a:stretch>
            <a:fillRect/>
          </a:stretch>
        </p:blipFill>
        <p:spPr>
          <a:xfrm>
            <a:off x="8074701" y="4188501"/>
            <a:ext cx="419527" cy="419527"/>
          </a:xfrm>
          <a:prstGeom prst="rect">
            <a:avLst/>
          </a:prstGeom>
        </p:spPr>
      </p:pic>
      <p:sp>
        <p:nvSpPr>
          <p:cNvPr id="20" name="Text 14">
            <a:extLst>
              <a:ext uri="{FF2B5EF4-FFF2-40B4-BE49-F238E27FC236}">
                <a16:creationId xmlns:a16="http://schemas.microsoft.com/office/drawing/2014/main" id="{E195F9C4-70D5-7152-0744-F29FFA9AC6C0}"/>
              </a:ext>
            </a:extLst>
          </p:cNvPr>
          <p:cNvSpPr/>
          <p:nvPr/>
        </p:nvSpPr>
        <p:spPr>
          <a:xfrm>
            <a:off x="8732520" y="4114800"/>
            <a:ext cx="2743200" cy="566928"/>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Privacy</a:t>
            </a:r>
            <a:endParaRPr lang="en-US" sz="1400" dirty="0"/>
          </a:p>
        </p:txBody>
      </p:sp>
      <p:sp>
        <p:nvSpPr>
          <p:cNvPr id="21" name="Shape 15">
            <a:extLst>
              <a:ext uri="{FF2B5EF4-FFF2-40B4-BE49-F238E27FC236}">
                <a16:creationId xmlns:a16="http://schemas.microsoft.com/office/drawing/2014/main" id="{4B22B560-408D-8170-D045-05819CC0F83B}"/>
              </a:ext>
            </a:extLst>
          </p:cNvPr>
          <p:cNvSpPr/>
          <p:nvPr/>
        </p:nvSpPr>
        <p:spPr>
          <a:xfrm>
            <a:off x="8001000" y="5029200"/>
            <a:ext cx="566928" cy="566928"/>
          </a:xfrm>
          <a:prstGeom prst="ellipse">
            <a:avLst/>
          </a:prstGeom>
          <a:solidFill>
            <a:srgbClr val="13565F"/>
          </a:solidFill>
          <a:ln/>
        </p:spPr>
        <p:txBody>
          <a:bodyPr/>
          <a:lstStyle/>
          <a:p>
            <a:endParaRPr lang="en-IN"/>
          </a:p>
        </p:txBody>
      </p:sp>
      <p:pic>
        <p:nvPicPr>
          <p:cNvPr id="22" name="Image 4" descr="/home/claude/deadmanswitch/icons/bell_amber.png">
            <a:extLst>
              <a:ext uri="{FF2B5EF4-FFF2-40B4-BE49-F238E27FC236}">
                <a16:creationId xmlns:a16="http://schemas.microsoft.com/office/drawing/2014/main" id="{6F159A6D-B38C-98D0-4016-F568A9250ED4}"/>
              </a:ext>
            </a:extLst>
          </p:cNvPr>
          <p:cNvPicPr>
            <a:picLocks noChangeAspect="1"/>
          </p:cNvPicPr>
          <p:nvPr/>
        </p:nvPicPr>
        <p:blipFill>
          <a:blip r:embed="rId7"/>
          <a:stretch>
            <a:fillRect/>
          </a:stretch>
        </p:blipFill>
        <p:spPr>
          <a:xfrm>
            <a:off x="8074701" y="5102901"/>
            <a:ext cx="419527" cy="419527"/>
          </a:xfrm>
          <a:prstGeom prst="rect">
            <a:avLst/>
          </a:prstGeom>
        </p:spPr>
      </p:pic>
      <p:sp>
        <p:nvSpPr>
          <p:cNvPr id="23" name="Text 16">
            <a:extLst>
              <a:ext uri="{FF2B5EF4-FFF2-40B4-BE49-F238E27FC236}">
                <a16:creationId xmlns:a16="http://schemas.microsoft.com/office/drawing/2014/main" id="{3DCA481A-78C7-9014-0F41-6AB8A2435F01}"/>
              </a:ext>
            </a:extLst>
          </p:cNvPr>
          <p:cNvSpPr/>
          <p:nvPr/>
        </p:nvSpPr>
        <p:spPr>
          <a:xfrm>
            <a:off x="8732520" y="5029200"/>
            <a:ext cx="2743200" cy="566928"/>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Emergency Info Management</a:t>
            </a:r>
            <a:endParaRPr lang="en-US" sz="1400" dirty="0"/>
          </a:p>
        </p:txBody>
      </p:sp>
      <p:sp>
        <p:nvSpPr>
          <p:cNvPr id="24" name="Text 17">
            <a:extLst>
              <a:ext uri="{FF2B5EF4-FFF2-40B4-BE49-F238E27FC236}">
                <a16:creationId xmlns:a16="http://schemas.microsoft.com/office/drawing/2014/main" id="{E74DC12A-6A43-3EDD-40C8-B5D34E0C2980}"/>
              </a:ext>
            </a:extLst>
          </p:cNvPr>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25" name="Text 18">
            <a:extLst>
              <a:ext uri="{FF2B5EF4-FFF2-40B4-BE49-F238E27FC236}">
                <a16:creationId xmlns:a16="http://schemas.microsoft.com/office/drawing/2014/main" id="{D0E69C94-A043-0824-F234-BEA8996EC4B6}"/>
              </a:ext>
            </a:extLst>
          </p:cNvPr>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4</a:t>
            </a:r>
            <a:endParaRPr lang="en-US" sz="900" dirty="0"/>
          </a:p>
        </p:txBody>
      </p:sp>
    </p:spTree>
    <p:extLst>
      <p:ext uri="{BB962C8B-B14F-4D97-AF65-F5344CB8AC3E}">
        <p14:creationId xmlns:p14="http://schemas.microsoft.com/office/powerpoint/2010/main" val="266228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THE CHALLENGE</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Existing Problems</a:t>
            </a:r>
            <a:endParaRPr lang="en-US" sz="3000" dirty="0"/>
          </a:p>
        </p:txBody>
      </p:sp>
      <p:sp>
        <p:nvSpPr>
          <p:cNvPr id="4" name="Shape 2"/>
          <p:cNvSpPr/>
          <p:nvPr/>
        </p:nvSpPr>
        <p:spPr>
          <a:xfrm>
            <a:off x="548640" y="1645920"/>
            <a:ext cx="3520440" cy="2148840"/>
          </a:xfrm>
          <a:prstGeom prst="roundRect">
            <a:avLst>
              <a:gd name="adj" fmla="val 51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768096" y="1901952"/>
            <a:ext cx="640080" cy="640080"/>
          </a:xfrm>
          <a:prstGeom prst="ellipse">
            <a:avLst/>
          </a:prstGeom>
          <a:solidFill>
            <a:srgbClr val="F4A300"/>
          </a:solidFill>
          <a:ln/>
        </p:spPr>
        <p:txBody>
          <a:bodyPr/>
          <a:lstStyle/>
          <a:p>
            <a:endParaRPr lang="en-IN"/>
          </a:p>
        </p:txBody>
      </p:sp>
      <p:pic>
        <p:nvPicPr>
          <p:cNvPr id="6" name="Image 0" descr="/home/claude/deadmanswitch/icons/file_white.png"/>
          <p:cNvPicPr>
            <a:picLocks noChangeAspect="1"/>
          </p:cNvPicPr>
          <p:nvPr/>
        </p:nvPicPr>
        <p:blipFill>
          <a:blip r:embed="rId3"/>
          <a:stretch>
            <a:fillRect/>
          </a:stretch>
        </p:blipFill>
        <p:spPr>
          <a:xfrm>
            <a:off x="851306" y="1985162"/>
            <a:ext cx="473659" cy="473659"/>
          </a:xfrm>
          <a:prstGeom prst="rect">
            <a:avLst/>
          </a:prstGeom>
        </p:spPr>
      </p:pic>
      <p:sp>
        <p:nvSpPr>
          <p:cNvPr id="7" name="Text 4"/>
          <p:cNvSpPr/>
          <p:nvPr/>
        </p:nvSpPr>
        <p:spPr>
          <a:xfrm>
            <a:off x="1554480" y="1847088"/>
            <a:ext cx="2331720" cy="749808"/>
          </a:xfrm>
          <a:prstGeom prst="rect">
            <a:avLst/>
          </a:prstGeom>
          <a:noFill/>
          <a:ln/>
        </p:spPr>
        <p:txBody>
          <a:bodyPr wrap="square" lIns="0" tIns="0" rIns="0" bIns="0" rtlCol="0" anchor="t"/>
          <a:lstStyle/>
          <a:p>
            <a:pPr marL="0" indent="0">
              <a:lnSpc>
                <a:spcPct val="105000"/>
              </a:lnSpc>
              <a:buNone/>
            </a:pPr>
            <a:r>
              <a:rPr lang="en-US" sz="1400" b="1" dirty="0">
                <a:solidFill>
                  <a:srgbClr val="0B3D45"/>
                </a:solidFill>
                <a:latin typeface="Cambria" pitchFamily="34" charset="0"/>
                <a:ea typeface="Cambria" pitchFamily="34" charset="-122"/>
                <a:cs typeface="Cambria" pitchFamily="34" charset="-120"/>
              </a:rPr>
              <a:t>Scattered Documents</a:t>
            </a:r>
            <a:endParaRPr lang="en-US" sz="1400" dirty="0"/>
          </a:p>
        </p:txBody>
      </p:sp>
      <p:sp>
        <p:nvSpPr>
          <p:cNvPr id="8" name="Text 5"/>
          <p:cNvSpPr/>
          <p:nvPr/>
        </p:nvSpPr>
        <p:spPr>
          <a:xfrm>
            <a:off x="768096" y="2697480"/>
            <a:ext cx="3081528" cy="1005840"/>
          </a:xfrm>
          <a:prstGeom prst="rect">
            <a:avLst/>
          </a:prstGeom>
          <a:noFill/>
          <a:ln/>
        </p:spPr>
        <p:txBody>
          <a:bodyPr wrap="square" lIns="0" tIns="0" rIns="0" bIns="0" rtlCol="0" anchor="t"/>
          <a:lstStyle/>
          <a:p>
            <a:pPr marL="0" indent="0">
              <a:lnSpc>
                <a:spcPct val="120000"/>
              </a:lnSpc>
              <a:buNone/>
            </a:pPr>
            <a:r>
              <a:rPr lang="en-US" sz="1150" dirty="0">
                <a:solidFill>
                  <a:srgbClr val="5B7480"/>
                </a:solidFill>
                <a:latin typeface="Calibri" pitchFamily="34" charset="0"/>
                <a:ea typeface="Calibri" pitchFamily="34" charset="-122"/>
                <a:cs typeface="Calibri" pitchFamily="34" charset="-120"/>
              </a:rPr>
              <a:t>Important documents are stored in multiple locations.</a:t>
            </a:r>
            <a:endParaRPr lang="en-US" sz="1150" dirty="0"/>
          </a:p>
        </p:txBody>
      </p:sp>
      <p:sp>
        <p:nvSpPr>
          <p:cNvPr id="9" name="Shape 6"/>
          <p:cNvSpPr/>
          <p:nvPr/>
        </p:nvSpPr>
        <p:spPr>
          <a:xfrm>
            <a:off x="4334256" y="1645920"/>
            <a:ext cx="3520440" cy="2148840"/>
          </a:xfrm>
          <a:prstGeom prst="roundRect">
            <a:avLst>
              <a:gd name="adj" fmla="val 51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0" name="Shape 7"/>
          <p:cNvSpPr/>
          <p:nvPr/>
        </p:nvSpPr>
        <p:spPr>
          <a:xfrm>
            <a:off x="4553712" y="1901952"/>
            <a:ext cx="640080" cy="640080"/>
          </a:xfrm>
          <a:prstGeom prst="ellipse">
            <a:avLst/>
          </a:prstGeom>
          <a:solidFill>
            <a:srgbClr val="F4A300"/>
          </a:solidFill>
          <a:ln/>
        </p:spPr>
        <p:txBody>
          <a:bodyPr/>
          <a:lstStyle/>
          <a:p>
            <a:endParaRPr lang="en-IN"/>
          </a:p>
        </p:txBody>
      </p:sp>
      <p:pic>
        <p:nvPicPr>
          <p:cNvPr id="11" name="Image 1" descr="/home/claude/deadmanswitch/icons/users_white.png"/>
          <p:cNvPicPr>
            <a:picLocks noChangeAspect="1"/>
          </p:cNvPicPr>
          <p:nvPr/>
        </p:nvPicPr>
        <p:blipFill>
          <a:blip r:embed="rId4"/>
          <a:stretch>
            <a:fillRect/>
          </a:stretch>
        </p:blipFill>
        <p:spPr>
          <a:xfrm>
            <a:off x="4636922" y="1985162"/>
            <a:ext cx="473659" cy="473659"/>
          </a:xfrm>
          <a:prstGeom prst="rect">
            <a:avLst/>
          </a:prstGeom>
        </p:spPr>
      </p:pic>
      <p:sp>
        <p:nvSpPr>
          <p:cNvPr id="12" name="Text 8"/>
          <p:cNvSpPr/>
          <p:nvPr/>
        </p:nvSpPr>
        <p:spPr>
          <a:xfrm>
            <a:off x="5340096" y="1847088"/>
            <a:ext cx="2331720" cy="749808"/>
          </a:xfrm>
          <a:prstGeom prst="rect">
            <a:avLst/>
          </a:prstGeom>
          <a:noFill/>
          <a:ln/>
        </p:spPr>
        <p:txBody>
          <a:bodyPr wrap="square" lIns="0" tIns="0" rIns="0" bIns="0" rtlCol="0" anchor="t"/>
          <a:lstStyle/>
          <a:p>
            <a:pPr marL="0" indent="0">
              <a:lnSpc>
                <a:spcPct val="105000"/>
              </a:lnSpc>
              <a:buNone/>
            </a:pPr>
            <a:r>
              <a:rPr lang="en-US" sz="1400" b="1" dirty="0">
                <a:solidFill>
                  <a:srgbClr val="0B3D45"/>
                </a:solidFill>
                <a:latin typeface="Cambria" pitchFamily="34" charset="0"/>
                <a:ea typeface="Cambria" pitchFamily="34" charset="-122"/>
                <a:cs typeface="Cambria" pitchFamily="34" charset="-120"/>
              </a:rPr>
              <a:t>Family Unaware</a:t>
            </a:r>
            <a:endParaRPr lang="en-US" sz="1400" dirty="0"/>
          </a:p>
        </p:txBody>
      </p:sp>
      <p:sp>
        <p:nvSpPr>
          <p:cNvPr id="13" name="Text 9"/>
          <p:cNvSpPr/>
          <p:nvPr/>
        </p:nvSpPr>
        <p:spPr>
          <a:xfrm>
            <a:off x="4553712" y="2697480"/>
            <a:ext cx="3081528" cy="1005840"/>
          </a:xfrm>
          <a:prstGeom prst="rect">
            <a:avLst/>
          </a:prstGeom>
          <a:noFill/>
          <a:ln/>
        </p:spPr>
        <p:txBody>
          <a:bodyPr wrap="square" lIns="0" tIns="0" rIns="0" bIns="0" rtlCol="0" anchor="t"/>
          <a:lstStyle/>
          <a:p>
            <a:pPr marL="0" indent="0">
              <a:lnSpc>
                <a:spcPct val="120000"/>
              </a:lnSpc>
              <a:buNone/>
            </a:pPr>
            <a:r>
              <a:rPr lang="en-US" sz="1150" dirty="0">
                <a:solidFill>
                  <a:srgbClr val="5B7480"/>
                </a:solidFill>
                <a:latin typeface="Calibri" pitchFamily="34" charset="0"/>
                <a:ea typeface="Calibri" pitchFamily="34" charset="-122"/>
                <a:cs typeface="Calibri" pitchFamily="34" charset="-120"/>
              </a:rPr>
              <a:t>Family members may not know where critical information is stored.</a:t>
            </a:r>
            <a:endParaRPr lang="en-US" sz="1150" dirty="0"/>
          </a:p>
        </p:txBody>
      </p:sp>
      <p:sp>
        <p:nvSpPr>
          <p:cNvPr id="14" name="Shape 10"/>
          <p:cNvSpPr/>
          <p:nvPr/>
        </p:nvSpPr>
        <p:spPr>
          <a:xfrm>
            <a:off x="8119872" y="1645920"/>
            <a:ext cx="3520440" cy="2148840"/>
          </a:xfrm>
          <a:prstGeom prst="roundRect">
            <a:avLst>
              <a:gd name="adj" fmla="val 51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5" name="Shape 11"/>
          <p:cNvSpPr/>
          <p:nvPr/>
        </p:nvSpPr>
        <p:spPr>
          <a:xfrm>
            <a:off x="8339328" y="1901952"/>
            <a:ext cx="640080" cy="640080"/>
          </a:xfrm>
          <a:prstGeom prst="ellipse">
            <a:avLst/>
          </a:prstGeom>
          <a:solidFill>
            <a:srgbClr val="F4A300"/>
          </a:solidFill>
          <a:ln/>
        </p:spPr>
        <p:txBody>
          <a:bodyPr/>
          <a:lstStyle/>
          <a:p>
            <a:endParaRPr lang="en-IN"/>
          </a:p>
        </p:txBody>
      </p:sp>
      <p:pic>
        <p:nvPicPr>
          <p:cNvPr id="16" name="Image 2" descr="/home/claude/deadmanswitch/icons/key_white.png"/>
          <p:cNvPicPr>
            <a:picLocks noChangeAspect="1"/>
          </p:cNvPicPr>
          <p:nvPr/>
        </p:nvPicPr>
        <p:blipFill>
          <a:blip r:embed="rId5"/>
          <a:stretch>
            <a:fillRect/>
          </a:stretch>
        </p:blipFill>
        <p:spPr>
          <a:xfrm>
            <a:off x="8422538" y="1985162"/>
            <a:ext cx="473659" cy="473659"/>
          </a:xfrm>
          <a:prstGeom prst="rect">
            <a:avLst/>
          </a:prstGeom>
        </p:spPr>
      </p:pic>
      <p:sp>
        <p:nvSpPr>
          <p:cNvPr id="17" name="Text 12"/>
          <p:cNvSpPr/>
          <p:nvPr/>
        </p:nvSpPr>
        <p:spPr>
          <a:xfrm>
            <a:off x="9125712" y="1847088"/>
            <a:ext cx="2331720" cy="749808"/>
          </a:xfrm>
          <a:prstGeom prst="rect">
            <a:avLst/>
          </a:prstGeom>
          <a:noFill/>
          <a:ln/>
        </p:spPr>
        <p:txBody>
          <a:bodyPr wrap="square" lIns="0" tIns="0" rIns="0" bIns="0" rtlCol="0" anchor="t"/>
          <a:lstStyle/>
          <a:p>
            <a:pPr marL="0" indent="0">
              <a:lnSpc>
                <a:spcPct val="105000"/>
              </a:lnSpc>
              <a:buNone/>
            </a:pPr>
            <a:r>
              <a:rPr lang="en-US" sz="1400" b="1" dirty="0">
                <a:solidFill>
                  <a:srgbClr val="0B3D45"/>
                </a:solidFill>
                <a:latin typeface="Cambria" pitchFamily="34" charset="0"/>
                <a:ea typeface="Cambria" pitchFamily="34" charset="-122"/>
                <a:cs typeface="Cambria" pitchFamily="34" charset="-120"/>
              </a:rPr>
              <a:t>Risky Password Sharing</a:t>
            </a:r>
            <a:endParaRPr lang="en-US" sz="1400" dirty="0"/>
          </a:p>
        </p:txBody>
      </p:sp>
      <p:sp>
        <p:nvSpPr>
          <p:cNvPr id="18" name="Text 13"/>
          <p:cNvSpPr/>
          <p:nvPr/>
        </p:nvSpPr>
        <p:spPr>
          <a:xfrm>
            <a:off x="8339328" y="2697480"/>
            <a:ext cx="3081528" cy="1005840"/>
          </a:xfrm>
          <a:prstGeom prst="rect">
            <a:avLst/>
          </a:prstGeom>
          <a:noFill/>
          <a:ln/>
        </p:spPr>
        <p:txBody>
          <a:bodyPr wrap="square" lIns="0" tIns="0" rIns="0" bIns="0" rtlCol="0" anchor="t"/>
          <a:lstStyle/>
          <a:p>
            <a:pPr marL="0" indent="0">
              <a:lnSpc>
                <a:spcPct val="120000"/>
              </a:lnSpc>
              <a:buNone/>
            </a:pPr>
            <a:r>
              <a:rPr lang="en-US" sz="1150" dirty="0">
                <a:solidFill>
                  <a:srgbClr val="5B7480"/>
                </a:solidFill>
                <a:latin typeface="Calibri" pitchFamily="34" charset="0"/>
                <a:ea typeface="Calibri" pitchFamily="34" charset="-122"/>
                <a:cs typeface="Calibri" pitchFamily="34" charset="-120"/>
              </a:rPr>
              <a:t>Password sharing compromises privacy and security.</a:t>
            </a:r>
            <a:endParaRPr lang="en-US" sz="1150" dirty="0"/>
          </a:p>
        </p:txBody>
      </p:sp>
      <p:sp>
        <p:nvSpPr>
          <p:cNvPr id="19" name="Shape 14"/>
          <p:cNvSpPr/>
          <p:nvPr/>
        </p:nvSpPr>
        <p:spPr>
          <a:xfrm>
            <a:off x="2441448" y="4069080"/>
            <a:ext cx="3520440" cy="2148840"/>
          </a:xfrm>
          <a:prstGeom prst="roundRect">
            <a:avLst>
              <a:gd name="adj" fmla="val 51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0" name="Shape 15"/>
          <p:cNvSpPr/>
          <p:nvPr/>
        </p:nvSpPr>
        <p:spPr>
          <a:xfrm>
            <a:off x="2660904" y="4325112"/>
            <a:ext cx="640080" cy="640080"/>
          </a:xfrm>
          <a:prstGeom prst="ellipse">
            <a:avLst/>
          </a:prstGeom>
          <a:solidFill>
            <a:srgbClr val="F4A300"/>
          </a:solidFill>
          <a:ln/>
        </p:spPr>
        <p:txBody>
          <a:bodyPr/>
          <a:lstStyle/>
          <a:p>
            <a:endParaRPr lang="en-IN"/>
          </a:p>
        </p:txBody>
      </p:sp>
      <p:pic>
        <p:nvPicPr>
          <p:cNvPr id="21" name="Image 3" descr="/home/claude/deadmanswitch/icons/cloud_white.png"/>
          <p:cNvPicPr>
            <a:picLocks noChangeAspect="1"/>
          </p:cNvPicPr>
          <p:nvPr/>
        </p:nvPicPr>
        <p:blipFill>
          <a:blip r:embed="rId6"/>
          <a:stretch>
            <a:fillRect/>
          </a:stretch>
        </p:blipFill>
        <p:spPr>
          <a:xfrm>
            <a:off x="2744114" y="4408322"/>
            <a:ext cx="473659" cy="473659"/>
          </a:xfrm>
          <a:prstGeom prst="rect">
            <a:avLst/>
          </a:prstGeom>
        </p:spPr>
      </p:pic>
      <p:sp>
        <p:nvSpPr>
          <p:cNvPr id="22" name="Text 16"/>
          <p:cNvSpPr/>
          <p:nvPr/>
        </p:nvSpPr>
        <p:spPr>
          <a:xfrm>
            <a:off x="3447288" y="4270248"/>
            <a:ext cx="2331720" cy="749808"/>
          </a:xfrm>
          <a:prstGeom prst="rect">
            <a:avLst/>
          </a:prstGeom>
          <a:noFill/>
          <a:ln/>
        </p:spPr>
        <p:txBody>
          <a:bodyPr wrap="square" lIns="0" tIns="0" rIns="0" bIns="0" rtlCol="0" anchor="t"/>
          <a:lstStyle/>
          <a:p>
            <a:pPr marL="0" indent="0">
              <a:lnSpc>
                <a:spcPct val="105000"/>
              </a:lnSpc>
              <a:buNone/>
            </a:pPr>
            <a:r>
              <a:rPr lang="en-US" sz="1400" b="1" dirty="0">
                <a:solidFill>
                  <a:srgbClr val="0B3D45"/>
                </a:solidFill>
                <a:latin typeface="Cambria" pitchFamily="34" charset="0"/>
                <a:ea typeface="Cambria" pitchFamily="34" charset="-122"/>
                <a:cs typeface="Cambria" pitchFamily="34" charset="-120"/>
              </a:rPr>
              <a:t>No Auto Emergency Access</a:t>
            </a:r>
            <a:endParaRPr lang="en-US" sz="1400" dirty="0"/>
          </a:p>
        </p:txBody>
      </p:sp>
      <p:sp>
        <p:nvSpPr>
          <p:cNvPr id="23" name="Text 17"/>
          <p:cNvSpPr/>
          <p:nvPr/>
        </p:nvSpPr>
        <p:spPr>
          <a:xfrm>
            <a:off x="2660904" y="5120640"/>
            <a:ext cx="3081528" cy="1005840"/>
          </a:xfrm>
          <a:prstGeom prst="rect">
            <a:avLst/>
          </a:prstGeom>
          <a:noFill/>
          <a:ln/>
        </p:spPr>
        <p:txBody>
          <a:bodyPr wrap="square" lIns="0" tIns="0" rIns="0" bIns="0" rtlCol="0" anchor="t"/>
          <a:lstStyle/>
          <a:p>
            <a:pPr marL="0" indent="0">
              <a:lnSpc>
                <a:spcPct val="120000"/>
              </a:lnSpc>
              <a:buNone/>
            </a:pPr>
            <a:r>
              <a:rPr lang="en-US" sz="1150" dirty="0">
                <a:solidFill>
                  <a:srgbClr val="5B7480"/>
                </a:solidFill>
                <a:latin typeface="Calibri" pitchFamily="34" charset="0"/>
                <a:ea typeface="Calibri" pitchFamily="34" charset="-122"/>
                <a:cs typeface="Calibri" pitchFamily="34" charset="-120"/>
              </a:rPr>
              <a:t>Cloud storage requires manual access and does not support automated emergency sharing.</a:t>
            </a:r>
            <a:endParaRPr lang="en-US" sz="1150" dirty="0"/>
          </a:p>
        </p:txBody>
      </p:sp>
      <p:sp>
        <p:nvSpPr>
          <p:cNvPr id="24" name="Shape 18"/>
          <p:cNvSpPr/>
          <p:nvPr/>
        </p:nvSpPr>
        <p:spPr>
          <a:xfrm>
            <a:off x="6227064" y="4069080"/>
            <a:ext cx="3520440" cy="2148840"/>
          </a:xfrm>
          <a:prstGeom prst="roundRect">
            <a:avLst>
              <a:gd name="adj" fmla="val 51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19"/>
          <p:cNvSpPr/>
          <p:nvPr/>
        </p:nvSpPr>
        <p:spPr>
          <a:xfrm>
            <a:off x="6446520" y="4325112"/>
            <a:ext cx="640080" cy="640080"/>
          </a:xfrm>
          <a:prstGeom prst="ellipse">
            <a:avLst/>
          </a:prstGeom>
          <a:solidFill>
            <a:srgbClr val="F4A300"/>
          </a:solidFill>
          <a:ln/>
        </p:spPr>
        <p:txBody>
          <a:bodyPr/>
          <a:lstStyle/>
          <a:p>
            <a:endParaRPr lang="en-IN"/>
          </a:p>
        </p:txBody>
      </p:sp>
      <p:pic>
        <p:nvPicPr>
          <p:cNvPr id="26" name="Image 4" descr="/home/claude/deadmanswitch/icons/question_white.png"/>
          <p:cNvPicPr>
            <a:picLocks noChangeAspect="1"/>
          </p:cNvPicPr>
          <p:nvPr/>
        </p:nvPicPr>
        <p:blipFill>
          <a:blip r:embed="rId7"/>
          <a:stretch>
            <a:fillRect/>
          </a:stretch>
        </p:blipFill>
        <p:spPr>
          <a:xfrm>
            <a:off x="6529730" y="4408322"/>
            <a:ext cx="473659" cy="473659"/>
          </a:xfrm>
          <a:prstGeom prst="rect">
            <a:avLst/>
          </a:prstGeom>
        </p:spPr>
      </p:pic>
      <p:sp>
        <p:nvSpPr>
          <p:cNvPr id="27" name="Text 20"/>
          <p:cNvSpPr/>
          <p:nvPr/>
        </p:nvSpPr>
        <p:spPr>
          <a:xfrm>
            <a:off x="7232904" y="4270248"/>
            <a:ext cx="2331720" cy="749808"/>
          </a:xfrm>
          <a:prstGeom prst="rect">
            <a:avLst/>
          </a:prstGeom>
          <a:noFill/>
          <a:ln/>
        </p:spPr>
        <p:txBody>
          <a:bodyPr wrap="square" lIns="0" tIns="0" rIns="0" bIns="0" rtlCol="0" anchor="t"/>
          <a:lstStyle/>
          <a:p>
            <a:pPr marL="0" indent="0">
              <a:lnSpc>
                <a:spcPct val="105000"/>
              </a:lnSpc>
              <a:buNone/>
            </a:pPr>
            <a:r>
              <a:rPr lang="en-US" sz="1400" b="1" dirty="0">
                <a:solidFill>
                  <a:srgbClr val="0B3D45"/>
                </a:solidFill>
                <a:latin typeface="Cambria" pitchFamily="34" charset="0"/>
                <a:ea typeface="Cambria" pitchFamily="34" charset="-122"/>
                <a:cs typeface="Cambria" pitchFamily="34" charset="-120"/>
              </a:rPr>
              <a:t>No Unified Solution</a:t>
            </a:r>
            <a:endParaRPr lang="en-US" sz="1400" dirty="0"/>
          </a:p>
        </p:txBody>
      </p:sp>
      <p:sp>
        <p:nvSpPr>
          <p:cNvPr id="28" name="Text 21"/>
          <p:cNvSpPr/>
          <p:nvPr/>
        </p:nvSpPr>
        <p:spPr>
          <a:xfrm>
            <a:off x="6446520" y="5120640"/>
            <a:ext cx="3081528" cy="1005840"/>
          </a:xfrm>
          <a:prstGeom prst="rect">
            <a:avLst/>
          </a:prstGeom>
          <a:noFill/>
          <a:ln/>
        </p:spPr>
        <p:txBody>
          <a:bodyPr wrap="square" lIns="0" tIns="0" rIns="0" bIns="0" rtlCol="0" anchor="t"/>
          <a:lstStyle/>
          <a:p>
            <a:pPr marL="0" indent="0">
              <a:lnSpc>
                <a:spcPct val="120000"/>
              </a:lnSpc>
              <a:buNone/>
            </a:pPr>
            <a:r>
              <a:rPr lang="en-US" sz="1150" dirty="0">
                <a:solidFill>
                  <a:srgbClr val="5B7480"/>
                </a:solidFill>
                <a:latin typeface="Calibri" pitchFamily="34" charset="0"/>
                <a:ea typeface="Calibri" pitchFamily="34" charset="-122"/>
                <a:cs typeface="Calibri" pitchFamily="34" charset="-120"/>
              </a:rPr>
              <a:t>There is no simple system that combines secure storage with inactivity-based access control.</a:t>
            </a:r>
            <a:endParaRPr lang="en-US" sz="1150" dirty="0"/>
          </a:p>
        </p:txBody>
      </p:sp>
      <p:sp>
        <p:nvSpPr>
          <p:cNvPr id="29" name="Text 22"/>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0" name="Text 2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OUR SOLUTION</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Proposed System</a:t>
            </a:r>
            <a:endParaRPr lang="en-US" sz="3000" dirty="0"/>
          </a:p>
        </p:txBody>
      </p:sp>
      <p:sp>
        <p:nvSpPr>
          <p:cNvPr id="4" name="Shape 2"/>
          <p:cNvSpPr/>
          <p:nvPr/>
        </p:nvSpPr>
        <p:spPr>
          <a:xfrm>
            <a:off x="548640" y="1600200"/>
            <a:ext cx="11091672" cy="566928"/>
          </a:xfrm>
          <a:prstGeom prst="roundRect">
            <a:avLst>
              <a:gd name="adj" fmla="val 16129"/>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5" name="Text 3"/>
          <p:cNvSpPr/>
          <p:nvPr/>
        </p:nvSpPr>
        <p:spPr>
          <a:xfrm>
            <a:off x="822960" y="1600200"/>
            <a:ext cx="10515600" cy="56692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The proposed system provides a secure digital vault where users can:</a:t>
            </a:r>
            <a:endParaRPr lang="en-US" sz="1450" dirty="0"/>
          </a:p>
        </p:txBody>
      </p:sp>
      <p:sp>
        <p:nvSpPr>
          <p:cNvPr id="6" name="Shape 4"/>
          <p:cNvSpPr/>
          <p:nvPr/>
        </p:nvSpPr>
        <p:spPr>
          <a:xfrm>
            <a:off x="548640" y="2423160"/>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7" name="Shape 5"/>
          <p:cNvSpPr/>
          <p:nvPr/>
        </p:nvSpPr>
        <p:spPr>
          <a:xfrm>
            <a:off x="749808" y="2756916"/>
            <a:ext cx="566928" cy="566928"/>
          </a:xfrm>
          <a:prstGeom prst="ellipse">
            <a:avLst/>
          </a:prstGeom>
          <a:solidFill>
            <a:srgbClr val="0B3D45"/>
          </a:solidFill>
          <a:ln/>
        </p:spPr>
        <p:txBody>
          <a:bodyPr/>
          <a:lstStyle/>
          <a:p>
            <a:endParaRPr lang="en-IN"/>
          </a:p>
        </p:txBody>
      </p:sp>
      <p:pic>
        <p:nvPicPr>
          <p:cNvPr id="8" name="Image 0" descr="/home/claude/deadmanswitch/icons/safe_amber.png"/>
          <p:cNvPicPr>
            <a:picLocks noChangeAspect="1"/>
          </p:cNvPicPr>
          <p:nvPr/>
        </p:nvPicPr>
        <p:blipFill>
          <a:blip r:embed="rId3"/>
          <a:stretch>
            <a:fillRect/>
          </a:stretch>
        </p:blipFill>
        <p:spPr>
          <a:xfrm>
            <a:off x="823509" y="2830617"/>
            <a:ext cx="419527" cy="419527"/>
          </a:xfrm>
          <a:prstGeom prst="rect">
            <a:avLst/>
          </a:prstGeom>
        </p:spPr>
      </p:pic>
      <p:sp>
        <p:nvSpPr>
          <p:cNvPr id="9" name="Text 6"/>
          <p:cNvSpPr/>
          <p:nvPr/>
        </p:nvSpPr>
        <p:spPr>
          <a:xfrm>
            <a:off x="1481328" y="2423160"/>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Store confidential information.</a:t>
            </a:r>
            <a:endParaRPr lang="en-US" sz="1300" dirty="0"/>
          </a:p>
        </p:txBody>
      </p:sp>
      <p:sp>
        <p:nvSpPr>
          <p:cNvPr id="10" name="Shape 7"/>
          <p:cNvSpPr/>
          <p:nvPr/>
        </p:nvSpPr>
        <p:spPr>
          <a:xfrm>
            <a:off x="6217920" y="2423160"/>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1" name="Shape 8"/>
          <p:cNvSpPr/>
          <p:nvPr/>
        </p:nvSpPr>
        <p:spPr>
          <a:xfrm>
            <a:off x="6419088" y="2756916"/>
            <a:ext cx="566928" cy="566928"/>
          </a:xfrm>
          <a:prstGeom prst="ellipse">
            <a:avLst/>
          </a:prstGeom>
          <a:solidFill>
            <a:srgbClr val="0B3D45"/>
          </a:solidFill>
          <a:ln/>
        </p:spPr>
        <p:txBody>
          <a:bodyPr/>
          <a:lstStyle/>
          <a:p>
            <a:endParaRPr lang="en-IN"/>
          </a:p>
        </p:txBody>
      </p:sp>
      <p:pic>
        <p:nvPicPr>
          <p:cNvPr id="12" name="Image 1" descr="/home/claude/deadmanswitch/icons/fileupload_amber.png"/>
          <p:cNvPicPr>
            <a:picLocks noChangeAspect="1"/>
          </p:cNvPicPr>
          <p:nvPr/>
        </p:nvPicPr>
        <p:blipFill>
          <a:blip r:embed="rId4"/>
          <a:stretch>
            <a:fillRect/>
          </a:stretch>
        </p:blipFill>
        <p:spPr>
          <a:xfrm>
            <a:off x="6492789" y="2830617"/>
            <a:ext cx="419527" cy="419527"/>
          </a:xfrm>
          <a:prstGeom prst="rect">
            <a:avLst/>
          </a:prstGeom>
        </p:spPr>
      </p:pic>
      <p:sp>
        <p:nvSpPr>
          <p:cNvPr id="13" name="Text 9"/>
          <p:cNvSpPr/>
          <p:nvPr/>
        </p:nvSpPr>
        <p:spPr>
          <a:xfrm>
            <a:off x="7150608" y="2423160"/>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Upload important documents.</a:t>
            </a:r>
            <a:endParaRPr lang="en-US" sz="1300" dirty="0"/>
          </a:p>
        </p:txBody>
      </p:sp>
      <p:sp>
        <p:nvSpPr>
          <p:cNvPr id="14" name="Shape 10"/>
          <p:cNvSpPr/>
          <p:nvPr/>
        </p:nvSpPr>
        <p:spPr>
          <a:xfrm>
            <a:off x="548640" y="3858768"/>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5" name="Shape 11"/>
          <p:cNvSpPr/>
          <p:nvPr/>
        </p:nvSpPr>
        <p:spPr>
          <a:xfrm>
            <a:off x="749808" y="4192524"/>
            <a:ext cx="566928" cy="566928"/>
          </a:xfrm>
          <a:prstGeom prst="ellipse">
            <a:avLst/>
          </a:prstGeom>
          <a:solidFill>
            <a:srgbClr val="0B3D45"/>
          </a:solidFill>
          <a:ln/>
        </p:spPr>
        <p:txBody>
          <a:bodyPr/>
          <a:lstStyle/>
          <a:p>
            <a:endParaRPr lang="en-IN"/>
          </a:p>
        </p:txBody>
      </p:sp>
      <p:pic>
        <p:nvPicPr>
          <p:cNvPr id="16" name="Image 2" descr="/home/claude/deadmanswitch/icons/users_amber.png"/>
          <p:cNvPicPr>
            <a:picLocks noChangeAspect="1"/>
          </p:cNvPicPr>
          <p:nvPr/>
        </p:nvPicPr>
        <p:blipFill>
          <a:blip r:embed="rId5"/>
          <a:stretch>
            <a:fillRect/>
          </a:stretch>
        </p:blipFill>
        <p:spPr>
          <a:xfrm>
            <a:off x="823509" y="4266225"/>
            <a:ext cx="419527" cy="419527"/>
          </a:xfrm>
          <a:prstGeom prst="rect">
            <a:avLst/>
          </a:prstGeom>
        </p:spPr>
      </p:pic>
      <p:sp>
        <p:nvSpPr>
          <p:cNvPr id="17" name="Text 12"/>
          <p:cNvSpPr/>
          <p:nvPr/>
        </p:nvSpPr>
        <p:spPr>
          <a:xfrm>
            <a:off x="1481328" y="3858768"/>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Add trusted nominees.</a:t>
            </a:r>
            <a:endParaRPr lang="en-US" sz="1300" dirty="0"/>
          </a:p>
        </p:txBody>
      </p:sp>
      <p:sp>
        <p:nvSpPr>
          <p:cNvPr id="18" name="Shape 13"/>
          <p:cNvSpPr/>
          <p:nvPr/>
        </p:nvSpPr>
        <p:spPr>
          <a:xfrm>
            <a:off x="6217920" y="3858768"/>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9" name="Shape 14"/>
          <p:cNvSpPr/>
          <p:nvPr/>
        </p:nvSpPr>
        <p:spPr>
          <a:xfrm>
            <a:off x="6419088" y="4192524"/>
            <a:ext cx="566928" cy="566928"/>
          </a:xfrm>
          <a:prstGeom prst="ellipse">
            <a:avLst/>
          </a:prstGeom>
          <a:solidFill>
            <a:srgbClr val="0B3D45"/>
          </a:solidFill>
          <a:ln/>
        </p:spPr>
        <p:txBody>
          <a:bodyPr/>
          <a:lstStyle/>
          <a:p>
            <a:endParaRPr lang="en-IN"/>
          </a:p>
        </p:txBody>
      </p:sp>
      <p:pic>
        <p:nvPicPr>
          <p:cNvPr id="20" name="Image 3" descr="/home/claude/deadmanswitch/icons/clock_amber.png"/>
          <p:cNvPicPr>
            <a:picLocks noChangeAspect="1"/>
          </p:cNvPicPr>
          <p:nvPr/>
        </p:nvPicPr>
        <p:blipFill>
          <a:blip r:embed="rId6"/>
          <a:stretch>
            <a:fillRect/>
          </a:stretch>
        </p:blipFill>
        <p:spPr>
          <a:xfrm>
            <a:off x="6492789" y="4266225"/>
            <a:ext cx="419527" cy="419527"/>
          </a:xfrm>
          <a:prstGeom prst="rect">
            <a:avLst/>
          </a:prstGeom>
        </p:spPr>
      </p:pic>
      <p:sp>
        <p:nvSpPr>
          <p:cNvPr id="21" name="Text 15"/>
          <p:cNvSpPr/>
          <p:nvPr/>
        </p:nvSpPr>
        <p:spPr>
          <a:xfrm>
            <a:off x="7150608" y="3858768"/>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Configure inactivity duration.</a:t>
            </a:r>
            <a:endParaRPr lang="en-US" sz="1300" dirty="0"/>
          </a:p>
        </p:txBody>
      </p:sp>
      <p:sp>
        <p:nvSpPr>
          <p:cNvPr id="22" name="Shape 16"/>
          <p:cNvSpPr/>
          <p:nvPr/>
        </p:nvSpPr>
        <p:spPr>
          <a:xfrm>
            <a:off x="548640" y="5294376"/>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3" name="Shape 17"/>
          <p:cNvSpPr/>
          <p:nvPr/>
        </p:nvSpPr>
        <p:spPr>
          <a:xfrm>
            <a:off x="749808" y="5628132"/>
            <a:ext cx="566928" cy="566928"/>
          </a:xfrm>
          <a:prstGeom prst="ellipse">
            <a:avLst/>
          </a:prstGeom>
          <a:solidFill>
            <a:srgbClr val="0B3D45"/>
          </a:solidFill>
          <a:ln/>
        </p:spPr>
        <p:txBody>
          <a:bodyPr/>
          <a:lstStyle/>
          <a:p>
            <a:endParaRPr lang="en-IN"/>
          </a:p>
        </p:txBody>
      </p:sp>
      <p:pic>
        <p:nvPicPr>
          <p:cNvPr id="24" name="Image 4" descr="/home/claude/deadmanswitch/icons/bell_amber.png"/>
          <p:cNvPicPr>
            <a:picLocks noChangeAspect="1"/>
          </p:cNvPicPr>
          <p:nvPr/>
        </p:nvPicPr>
        <p:blipFill>
          <a:blip r:embed="rId7"/>
          <a:stretch>
            <a:fillRect/>
          </a:stretch>
        </p:blipFill>
        <p:spPr>
          <a:xfrm>
            <a:off x="823509" y="5701833"/>
            <a:ext cx="419527" cy="419527"/>
          </a:xfrm>
          <a:prstGeom prst="rect">
            <a:avLst/>
          </a:prstGeom>
        </p:spPr>
      </p:pic>
      <p:sp>
        <p:nvSpPr>
          <p:cNvPr id="25" name="Text 18"/>
          <p:cNvSpPr/>
          <p:nvPr/>
        </p:nvSpPr>
        <p:spPr>
          <a:xfrm>
            <a:off x="1481328" y="5294376"/>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Receive reminder notifications.</a:t>
            </a:r>
            <a:endParaRPr lang="en-US" sz="1300" dirty="0"/>
          </a:p>
        </p:txBody>
      </p:sp>
      <p:sp>
        <p:nvSpPr>
          <p:cNvPr id="26" name="Shape 19"/>
          <p:cNvSpPr/>
          <p:nvPr/>
        </p:nvSpPr>
        <p:spPr>
          <a:xfrm>
            <a:off x="6217920" y="5294376"/>
            <a:ext cx="5422392" cy="1234440"/>
          </a:xfrm>
          <a:prstGeom prst="roundRect">
            <a:avLst>
              <a:gd name="adj" fmla="val 740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7" name="Shape 20"/>
          <p:cNvSpPr/>
          <p:nvPr/>
        </p:nvSpPr>
        <p:spPr>
          <a:xfrm>
            <a:off x="6419088" y="5628132"/>
            <a:ext cx="566928" cy="566928"/>
          </a:xfrm>
          <a:prstGeom prst="ellipse">
            <a:avLst/>
          </a:prstGeom>
          <a:solidFill>
            <a:srgbClr val="0B3D45"/>
          </a:solidFill>
          <a:ln/>
        </p:spPr>
        <p:txBody>
          <a:bodyPr/>
          <a:lstStyle/>
          <a:p>
            <a:endParaRPr lang="en-IN"/>
          </a:p>
        </p:txBody>
      </p:sp>
      <p:pic>
        <p:nvPicPr>
          <p:cNvPr id="28" name="Image 5" descr="/home/claude/deadmanswitch/icons/paperplane_amber.png"/>
          <p:cNvPicPr>
            <a:picLocks noChangeAspect="1"/>
          </p:cNvPicPr>
          <p:nvPr/>
        </p:nvPicPr>
        <p:blipFill>
          <a:blip r:embed="rId8"/>
          <a:stretch>
            <a:fillRect/>
          </a:stretch>
        </p:blipFill>
        <p:spPr>
          <a:xfrm>
            <a:off x="6492789" y="5701833"/>
            <a:ext cx="419527" cy="419527"/>
          </a:xfrm>
          <a:prstGeom prst="rect">
            <a:avLst/>
          </a:prstGeom>
        </p:spPr>
      </p:pic>
      <p:sp>
        <p:nvSpPr>
          <p:cNvPr id="29" name="Text 21"/>
          <p:cNvSpPr/>
          <p:nvPr/>
        </p:nvSpPr>
        <p:spPr>
          <a:xfrm>
            <a:off x="7150608" y="5294376"/>
            <a:ext cx="4325112" cy="1234440"/>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Automatically share selected information with nominees if inactivity conditions are met.</a:t>
            </a:r>
            <a:endParaRPr lang="en-US" sz="1300" dirty="0"/>
          </a:p>
        </p:txBody>
      </p:sp>
      <p:sp>
        <p:nvSpPr>
          <p:cNvPr id="30" name="Text 22"/>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1" name="Text 2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GOALS</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64208"/>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713232" y="1828800"/>
            <a:ext cx="566928" cy="566928"/>
          </a:xfrm>
          <a:prstGeom prst="ellipse">
            <a:avLst/>
          </a:prstGeom>
          <a:solidFill>
            <a:srgbClr val="0B3D45"/>
          </a:solidFill>
          <a:ln/>
        </p:spPr>
        <p:txBody>
          <a:bodyPr/>
          <a:lstStyle/>
          <a:p>
            <a:endParaRPr lang="en-IN"/>
          </a:p>
        </p:txBody>
      </p:sp>
      <p:pic>
        <p:nvPicPr>
          <p:cNvPr id="6" name="Image 0" descr="/home/claude/deadmanswitch/icons/safe_amber.png"/>
          <p:cNvPicPr>
            <a:picLocks noChangeAspect="1"/>
          </p:cNvPicPr>
          <p:nvPr/>
        </p:nvPicPr>
        <p:blipFill>
          <a:blip r:embed="rId3"/>
          <a:stretch>
            <a:fillRect/>
          </a:stretch>
        </p:blipFill>
        <p:spPr>
          <a:xfrm>
            <a:off x="786933" y="1902501"/>
            <a:ext cx="419527" cy="419527"/>
          </a:xfrm>
          <a:prstGeom prst="rect">
            <a:avLst/>
          </a:prstGeom>
        </p:spPr>
      </p:pic>
      <p:sp>
        <p:nvSpPr>
          <p:cNvPr id="7" name="Text 4"/>
          <p:cNvSpPr/>
          <p:nvPr/>
        </p:nvSpPr>
        <p:spPr>
          <a:xfrm>
            <a:off x="1444752" y="1664208"/>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Develop a secure digital vault.</a:t>
            </a:r>
            <a:endParaRPr lang="en-US" sz="1300" dirty="0"/>
          </a:p>
        </p:txBody>
      </p:sp>
      <p:sp>
        <p:nvSpPr>
          <p:cNvPr id="8" name="Shape 5"/>
          <p:cNvSpPr/>
          <p:nvPr/>
        </p:nvSpPr>
        <p:spPr>
          <a:xfrm>
            <a:off x="6217920" y="1664208"/>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9" name="Shape 6"/>
          <p:cNvSpPr/>
          <p:nvPr/>
        </p:nvSpPr>
        <p:spPr>
          <a:xfrm>
            <a:off x="6382512" y="1828800"/>
            <a:ext cx="566928" cy="566928"/>
          </a:xfrm>
          <a:prstGeom prst="ellipse">
            <a:avLst/>
          </a:prstGeom>
          <a:solidFill>
            <a:srgbClr val="0B3D45"/>
          </a:solidFill>
          <a:ln/>
        </p:spPr>
        <p:txBody>
          <a:bodyPr/>
          <a:lstStyle/>
          <a:p>
            <a:endParaRPr lang="en-IN"/>
          </a:p>
        </p:txBody>
      </p:sp>
      <p:pic>
        <p:nvPicPr>
          <p:cNvPr id="10" name="Image 1" descr="/home/claude/deadmanswitch/icons/shield_amber.png"/>
          <p:cNvPicPr>
            <a:picLocks noChangeAspect="1"/>
          </p:cNvPicPr>
          <p:nvPr/>
        </p:nvPicPr>
        <p:blipFill>
          <a:blip r:embed="rId4"/>
          <a:stretch>
            <a:fillRect/>
          </a:stretch>
        </p:blipFill>
        <p:spPr>
          <a:xfrm>
            <a:off x="6456213" y="1902501"/>
            <a:ext cx="419527" cy="419527"/>
          </a:xfrm>
          <a:prstGeom prst="rect">
            <a:avLst/>
          </a:prstGeom>
        </p:spPr>
      </p:pic>
      <p:sp>
        <p:nvSpPr>
          <p:cNvPr id="11" name="Text 7"/>
          <p:cNvSpPr/>
          <p:nvPr/>
        </p:nvSpPr>
        <p:spPr>
          <a:xfrm>
            <a:off x="7114032" y="1664208"/>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Protect sensitive user information.</a:t>
            </a:r>
            <a:endParaRPr lang="en-US" sz="1300" dirty="0"/>
          </a:p>
        </p:txBody>
      </p:sp>
      <p:sp>
        <p:nvSpPr>
          <p:cNvPr id="12" name="Shape 8"/>
          <p:cNvSpPr/>
          <p:nvPr/>
        </p:nvSpPr>
        <p:spPr>
          <a:xfrm>
            <a:off x="548640" y="2706624"/>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3" name="Shape 9"/>
          <p:cNvSpPr/>
          <p:nvPr/>
        </p:nvSpPr>
        <p:spPr>
          <a:xfrm>
            <a:off x="713232" y="2871216"/>
            <a:ext cx="566928" cy="566928"/>
          </a:xfrm>
          <a:prstGeom prst="ellipse">
            <a:avLst/>
          </a:prstGeom>
          <a:solidFill>
            <a:srgbClr val="0B3D45"/>
          </a:solidFill>
          <a:ln/>
        </p:spPr>
        <p:txBody>
          <a:bodyPr/>
          <a:lstStyle/>
          <a:p>
            <a:endParaRPr lang="en-IN"/>
          </a:p>
        </p:txBody>
      </p:sp>
      <p:pic>
        <p:nvPicPr>
          <p:cNvPr id="14" name="Image 2" descr="/home/claude/deadmanswitch/icons/eye_amber.png"/>
          <p:cNvPicPr>
            <a:picLocks noChangeAspect="1"/>
          </p:cNvPicPr>
          <p:nvPr/>
        </p:nvPicPr>
        <p:blipFill>
          <a:blip r:embed="rId5"/>
          <a:stretch>
            <a:fillRect/>
          </a:stretch>
        </p:blipFill>
        <p:spPr>
          <a:xfrm>
            <a:off x="786933" y="2944917"/>
            <a:ext cx="419527" cy="419527"/>
          </a:xfrm>
          <a:prstGeom prst="rect">
            <a:avLst/>
          </a:prstGeom>
        </p:spPr>
      </p:pic>
      <p:sp>
        <p:nvSpPr>
          <p:cNvPr id="15" name="Text 10"/>
          <p:cNvSpPr/>
          <p:nvPr/>
        </p:nvSpPr>
        <p:spPr>
          <a:xfrm>
            <a:off x="1444752" y="2706624"/>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Monitor user activity automatically.</a:t>
            </a:r>
            <a:endParaRPr lang="en-US" sz="1300" dirty="0"/>
          </a:p>
        </p:txBody>
      </p:sp>
      <p:sp>
        <p:nvSpPr>
          <p:cNvPr id="16" name="Shape 11"/>
          <p:cNvSpPr/>
          <p:nvPr/>
        </p:nvSpPr>
        <p:spPr>
          <a:xfrm>
            <a:off x="6217920" y="2706624"/>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7" name="Shape 12"/>
          <p:cNvSpPr/>
          <p:nvPr/>
        </p:nvSpPr>
        <p:spPr>
          <a:xfrm>
            <a:off x="6382512" y="2871216"/>
            <a:ext cx="566928" cy="566928"/>
          </a:xfrm>
          <a:prstGeom prst="ellipse">
            <a:avLst/>
          </a:prstGeom>
          <a:solidFill>
            <a:srgbClr val="0B3D45"/>
          </a:solidFill>
          <a:ln/>
        </p:spPr>
        <p:txBody>
          <a:bodyPr/>
          <a:lstStyle/>
          <a:p>
            <a:endParaRPr lang="en-IN"/>
          </a:p>
        </p:txBody>
      </p:sp>
      <p:pic>
        <p:nvPicPr>
          <p:cNvPr id="18" name="Image 3" descr="/home/claude/deadmanswitch/icons/bell_amber.png"/>
          <p:cNvPicPr>
            <a:picLocks noChangeAspect="1"/>
          </p:cNvPicPr>
          <p:nvPr/>
        </p:nvPicPr>
        <p:blipFill>
          <a:blip r:embed="rId6"/>
          <a:stretch>
            <a:fillRect/>
          </a:stretch>
        </p:blipFill>
        <p:spPr>
          <a:xfrm>
            <a:off x="6456213" y="2944917"/>
            <a:ext cx="419527" cy="419527"/>
          </a:xfrm>
          <a:prstGeom prst="rect">
            <a:avLst/>
          </a:prstGeom>
        </p:spPr>
      </p:pic>
      <p:sp>
        <p:nvSpPr>
          <p:cNvPr id="19" name="Text 13"/>
          <p:cNvSpPr/>
          <p:nvPr/>
        </p:nvSpPr>
        <p:spPr>
          <a:xfrm>
            <a:off x="7114032" y="2706624"/>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Send periodic reminder notifications.</a:t>
            </a:r>
            <a:endParaRPr lang="en-US" sz="1300" dirty="0"/>
          </a:p>
        </p:txBody>
      </p:sp>
      <p:sp>
        <p:nvSpPr>
          <p:cNvPr id="20" name="Shape 14"/>
          <p:cNvSpPr/>
          <p:nvPr/>
        </p:nvSpPr>
        <p:spPr>
          <a:xfrm>
            <a:off x="548640" y="3749040"/>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1" name="Shape 15"/>
          <p:cNvSpPr/>
          <p:nvPr/>
        </p:nvSpPr>
        <p:spPr>
          <a:xfrm>
            <a:off x="713232" y="3913632"/>
            <a:ext cx="566928" cy="566928"/>
          </a:xfrm>
          <a:prstGeom prst="ellipse">
            <a:avLst/>
          </a:prstGeom>
          <a:solidFill>
            <a:srgbClr val="0B3D45"/>
          </a:solidFill>
          <a:ln/>
        </p:spPr>
        <p:txBody>
          <a:bodyPr/>
          <a:lstStyle/>
          <a:p>
            <a:endParaRPr lang="en-IN"/>
          </a:p>
        </p:txBody>
      </p:sp>
      <p:pic>
        <p:nvPicPr>
          <p:cNvPr id="22" name="Image 4" descr="/home/claude/deadmanswitch/icons/users_amber.png"/>
          <p:cNvPicPr>
            <a:picLocks noChangeAspect="1"/>
          </p:cNvPicPr>
          <p:nvPr/>
        </p:nvPicPr>
        <p:blipFill>
          <a:blip r:embed="rId7"/>
          <a:stretch>
            <a:fillRect/>
          </a:stretch>
        </p:blipFill>
        <p:spPr>
          <a:xfrm>
            <a:off x="786933" y="3987333"/>
            <a:ext cx="419527" cy="419527"/>
          </a:xfrm>
          <a:prstGeom prst="rect">
            <a:avLst/>
          </a:prstGeom>
        </p:spPr>
      </p:pic>
      <p:sp>
        <p:nvSpPr>
          <p:cNvPr id="23" name="Text 16"/>
          <p:cNvSpPr/>
          <p:nvPr/>
        </p:nvSpPr>
        <p:spPr>
          <a:xfrm>
            <a:off x="1444752" y="3749040"/>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Release information only to authorized nominees.</a:t>
            </a:r>
            <a:endParaRPr lang="en-US" sz="1300" dirty="0"/>
          </a:p>
        </p:txBody>
      </p:sp>
      <p:sp>
        <p:nvSpPr>
          <p:cNvPr id="24" name="Shape 17"/>
          <p:cNvSpPr/>
          <p:nvPr/>
        </p:nvSpPr>
        <p:spPr>
          <a:xfrm>
            <a:off x="6217920" y="3749040"/>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18"/>
          <p:cNvSpPr/>
          <p:nvPr/>
        </p:nvSpPr>
        <p:spPr>
          <a:xfrm>
            <a:off x="6382512" y="3913632"/>
            <a:ext cx="566928" cy="566928"/>
          </a:xfrm>
          <a:prstGeom prst="ellipse">
            <a:avLst/>
          </a:prstGeom>
          <a:solidFill>
            <a:srgbClr val="0B3D45"/>
          </a:solidFill>
          <a:ln/>
        </p:spPr>
        <p:txBody>
          <a:bodyPr/>
          <a:lstStyle/>
          <a:p>
            <a:endParaRPr lang="en-IN"/>
          </a:p>
        </p:txBody>
      </p:sp>
      <p:pic>
        <p:nvPicPr>
          <p:cNvPr id="26" name="Image 5" descr="/home/claude/deadmanswitch/icons/userlock_amber.png"/>
          <p:cNvPicPr>
            <a:picLocks noChangeAspect="1"/>
          </p:cNvPicPr>
          <p:nvPr/>
        </p:nvPicPr>
        <p:blipFill>
          <a:blip r:embed="rId8"/>
          <a:stretch>
            <a:fillRect/>
          </a:stretch>
        </p:blipFill>
        <p:spPr>
          <a:xfrm>
            <a:off x="6456213" y="3987333"/>
            <a:ext cx="419527" cy="419527"/>
          </a:xfrm>
          <a:prstGeom prst="rect">
            <a:avLst/>
          </a:prstGeom>
        </p:spPr>
      </p:pic>
      <p:sp>
        <p:nvSpPr>
          <p:cNvPr id="27" name="Text 19"/>
          <p:cNvSpPr/>
          <p:nvPr/>
        </p:nvSpPr>
        <p:spPr>
          <a:xfrm>
            <a:off x="7114032" y="3749040"/>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Ensure privacy while the user is active.</a:t>
            </a:r>
            <a:endParaRPr lang="en-US" sz="1300" dirty="0"/>
          </a:p>
        </p:txBody>
      </p:sp>
      <p:sp>
        <p:nvSpPr>
          <p:cNvPr id="28" name="Shape 20"/>
          <p:cNvSpPr/>
          <p:nvPr/>
        </p:nvSpPr>
        <p:spPr>
          <a:xfrm>
            <a:off x="548640" y="4791456"/>
            <a:ext cx="5422392" cy="896112"/>
          </a:xfrm>
          <a:prstGeom prst="roundRect">
            <a:avLst>
              <a:gd name="adj" fmla="val 10204"/>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9" name="Shape 21"/>
          <p:cNvSpPr/>
          <p:nvPr/>
        </p:nvSpPr>
        <p:spPr>
          <a:xfrm>
            <a:off x="713232" y="4956048"/>
            <a:ext cx="566928" cy="566928"/>
          </a:xfrm>
          <a:prstGeom prst="ellipse">
            <a:avLst/>
          </a:prstGeom>
          <a:solidFill>
            <a:srgbClr val="0B3D45"/>
          </a:solidFill>
          <a:ln/>
        </p:spPr>
        <p:txBody>
          <a:bodyPr/>
          <a:lstStyle/>
          <a:p>
            <a:endParaRPr lang="en-IN"/>
          </a:p>
        </p:txBody>
      </p:sp>
      <p:pic>
        <p:nvPicPr>
          <p:cNvPr id="30" name="Image 6" descr="/home/claude/deadmanswitch/icons/laptop_amber.png"/>
          <p:cNvPicPr>
            <a:picLocks noChangeAspect="1"/>
          </p:cNvPicPr>
          <p:nvPr/>
        </p:nvPicPr>
        <p:blipFill>
          <a:blip r:embed="rId9"/>
          <a:stretch>
            <a:fillRect/>
          </a:stretch>
        </p:blipFill>
        <p:spPr>
          <a:xfrm>
            <a:off x="786933" y="5029749"/>
            <a:ext cx="419527" cy="419527"/>
          </a:xfrm>
          <a:prstGeom prst="rect">
            <a:avLst/>
          </a:prstGeom>
        </p:spPr>
      </p:pic>
      <p:sp>
        <p:nvSpPr>
          <p:cNvPr id="31" name="Text 22"/>
          <p:cNvSpPr/>
          <p:nvPr/>
        </p:nvSpPr>
        <p:spPr>
          <a:xfrm>
            <a:off x="1444752" y="4791456"/>
            <a:ext cx="4370832" cy="896112"/>
          </a:xfrm>
          <a:prstGeom prst="rect">
            <a:avLst/>
          </a:prstGeom>
          <a:noFill/>
          <a:ln/>
        </p:spPr>
        <p:txBody>
          <a:bodyPr wrap="square" lIns="0" tIns="0" rIns="0" bIns="0" rtlCol="0" anchor="ctr"/>
          <a:lstStyle/>
          <a:p>
            <a:pPr marL="0" indent="0">
              <a:lnSpc>
                <a:spcPct val="110000"/>
              </a:lnSpc>
              <a:buNone/>
            </a:pPr>
            <a:r>
              <a:rPr lang="en-US" sz="1300" dirty="0">
                <a:solidFill>
                  <a:srgbClr val="13293D"/>
                </a:solidFill>
                <a:latin typeface="Calibri" pitchFamily="34" charset="0"/>
                <a:ea typeface="Calibri" pitchFamily="34" charset="-122"/>
                <a:cs typeface="Calibri" pitchFamily="34" charset="-120"/>
              </a:rPr>
              <a:t>Provide a simple and user-friendly interface.</a:t>
            </a:r>
            <a:endParaRPr lang="en-US" sz="1300" dirty="0"/>
          </a:p>
        </p:txBody>
      </p:sp>
      <p:sp>
        <p:nvSpPr>
          <p:cNvPr id="32" name="Text 2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3" name="Text 24"/>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WHO USES IT</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End Users</a:t>
            </a:r>
            <a:endParaRPr lang="en-US" sz="3000" dirty="0"/>
          </a:p>
        </p:txBody>
      </p:sp>
      <p:sp>
        <p:nvSpPr>
          <p:cNvPr id="4" name="Shape 2"/>
          <p:cNvSpPr/>
          <p:nvPr/>
        </p:nvSpPr>
        <p:spPr>
          <a:xfrm>
            <a:off x="548640" y="1691640"/>
            <a:ext cx="3593592" cy="4297680"/>
          </a:xfrm>
          <a:prstGeom prst="roundRect">
            <a:avLst>
              <a:gd name="adj" fmla="val 305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1956816" y="2011680"/>
            <a:ext cx="777240" cy="777240"/>
          </a:xfrm>
          <a:prstGeom prst="ellipse">
            <a:avLst/>
          </a:prstGeom>
          <a:solidFill>
            <a:srgbClr val="0B3D45"/>
          </a:solidFill>
          <a:ln/>
        </p:spPr>
        <p:txBody>
          <a:bodyPr/>
          <a:lstStyle/>
          <a:p>
            <a:endParaRPr lang="en-IN"/>
          </a:p>
        </p:txBody>
      </p:sp>
      <p:pic>
        <p:nvPicPr>
          <p:cNvPr id="6" name="Image 0" descr="/home/claude/deadmanswitch/icons/user_white.png"/>
          <p:cNvPicPr>
            <a:picLocks noChangeAspect="1"/>
          </p:cNvPicPr>
          <p:nvPr/>
        </p:nvPicPr>
        <p:blipFill>
          <a:blip r:embed="rId3"/>
          <a:stretch>
            <a:fillRect/>
          </a:stretch>
        </p:blipFill>
        <p:spPr>
          <a:xfrm>
            <a:off x="2057857" y="2112721"/>
            <a:ext cx="575158" cy="575158"/>
          </a:xfrm>
          <a:prstGeom prst="rect">
            <a:avLst/>
          </a:prstGeom>
        </p:spPr>
      </p:pic>
      <p:sp>
        <p:nvSpPr>
          <p:cNvPr id="7" name="Text 4"/>
          <p:cNvSpPr/>
          <p:nvPr/>
        </p:nvSpPr>
        <p:spPr>
          <a:xfrm>
            <a:off x="685800" y="2926080"/>
            <a:ext cx="3319272" cy="411480"/>
          </a:xfrm>
          <a:prstGeom prst="rect">
            <a:avLst/>
          </a:prstGeom>
          <a:noFill/>
          <a:ln/>
        </p:spPr>
        <p:txBody>
          <a:bodyPr wrap="square" lIns="0" tIns="0" rIns="0" bIns="0" rtlCol="0" anchor="ctr"/>
          <a:lstStyle/>
          <a:p>
            <a:pPr marL="0" indent="0" algn="ctr">
              <a:buNone/>
            </a:pPr>
            <a:r>
              <a:rPr lang="en-US" sz="1650" b="1" dirty="0">
                <a:solidFill>
                  <a:srgbClr val="0B3D45"/>
                </a:solidFill>
                <a:latin typeface="Cambria" pitchFamily="34" charset="0"/>
                <a:ea typeface="Cambria" pitchFamily="34" charset="-122"/>
                <a:cs typeface="Cambria" pitchFamily="34" charset="-120"/>
              </a:rPr>
              <a:t>Primary User</a:t>
            </a:r>
            <a:endParaRPr lang="en-US" sz="1650" dirty="0"/>
          </a:p>
        </p:txBody>
      </p:sp>
      <p:sp>
        <p:nvSpPr>
          <p:cNvPr id="8" name="Shape 5"/>
          <p:cNvSpPr/>
          <p:nvPr/>
        </p:nvSpPr>
        <p:spPr>
          <a:xfrm>
            <a:off x="804672" y="3593592"/>
            <a:ext cx="100584" cy="100584"/>
          </a:xfrm>
          <a:prstGeom prst="ellipse">
            <a:avLst/>
          </a:prstGeom>
          <a:solidFill>
            <a:srgbClr val="14919B"/>
          </a:solidFill>
          <a:ln/>
        </p:spPr>
        <p:txBody>
          <a:bodyPr/>
          <a:lstStyle/>
          <a:p>
            <a:endParaRPr lang="en-IN"/>
          </a:p>
        </p:txBody>
      </p:sp>
      <p:sp>
        <p:nvSpPr>
          <p:cNvPr id="9" name="Text 6"/>
          <p:cNvSpPr/>
          <p:nvPr/>
        </p:nvSpPr>
        <p:spPr>
          <a:xfrm>
            <a:off x="1005840" y="3447288"/>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Creates an account</a:t>
            </a:r>
            <a:endParaRPr lang="en-US" sz="1150" dirty="0"/>
          </a:p>
        </p:txBody>
      </p:sp>
      <p:sp>
        <p:nvSpPr>
          <p:cNvPr id="10" name="Shape 7"/>
          <p:cNvSpPr/>
          <p:nvPr/>
        </p:nvSpPr>
        <p:spPr>
          <a:xfrm>
            <a:off x="804672" y="4069080"/>
            <a:ext cx="100584" cy="100584"/>
          </a:xfrm>
          <a:prstGeom prst="ellipse">
            <a:avLst/>
          </a:prstGeom>
          <a:solidFill>
            <a:srgbClr val="14919B"/>
          </a:solidFill>
          <a:ln/>
        </p:spPr>
        <p:txBody>
          <a:bodyPr/>
          <a:lstStyle/>
          <a:p>
            <a:endParaRPr lang="en-IN"/>
          </a:p>
        </p:txBody>
      </p:sp>
      <p:sp>
        <p:nvSpPr>
          <p:cNvPr id="11" name="Text 8"/>
          <p:cNvSpPr/>
          <p:nvPr/>
        </p:nvSpPr>
        <p:spPr>
          <a:xfrm>
            <a:off x="1005840" y="3922776"/>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Stores confidential information</a:t>
            </a:r>
            <a:endParaRPr lang="en-US" sz="1150" dirty="0"/>
          </a:p>
        </p:txBody>
      </p:sp>
      <p:sp>
        <p:nvSpPr>
          <p:cNvPr id="12" name="Shape 9"/>
          <p:cNvSpPr/>
          <p:nvPr/>
        </p:nvSpPr>
        <p:spPr>
          <a:xfrm>
            <a:off x="804672" y="4544568"/>
            <a:ext cx="100584" cy="100584"/>
          </a:xfrm>
          <a:prstGeom prst="ellipse">
            <a:avLst/>
          </a:prstGeom>
          <a:solidFill>
            <a:srgbClr val="14919B"/>
          </a:solidFill>
          <a:ln/>
        </p:spPr>
        <p:txBody>
          <a:bodyPr/>
          <a:lstStyle/>
          <a:p>
            <a:endParaRPr lang="en-IN"/>
          </a:p>
        </p:txBody>
      </p:sp>
      <p:sp>
        <p:nvSpPr>
          <p:cNvPr id="13" name="Text 10"/>
          <p:cNvSpPr/>
          <p:nvPr/>
        </p:nvSpPr>
        <p:spPr>
          <a:xfrm>
            <a:off x="1005840" y="4398264"/>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Uploads documents</a:t>
            </a:r>
            <a:endParaRPr lang="en-US" sz="1150" dirty="0"/>
          </a:p>
        </p:txBody>
      </p:sp>
      <p:sp>
        <p:nvSpPr>
          <p:cNvPr id="14" name="Shape 11"/>
          <p:cNvSpPr/>
          <p:nvPr/>
        </p:nvSpPr>
        <p:spPr>
          <a:xfrm>
            <a:off x="804672" y="5020056"/>
            <a:ext cx="100584" cy="100584"/>
          </a:xfrm>
          <a:prstGeom prst="ellipse">
            <a:avLst/>
          </a:prstGeom>
          <a:solidFill>
            <a:srgbClr val="14919B"/>
          </a:solidFill>
          <a:ln/>
        </p:spPr>
        <p:txBody>
          <a:bodyPr/>
          <a:lstStyle/>
          <a:p>
            <a:endParaRPr lang="en-IN"/>
          </a:p>
        </p:txBody>
      </p:sp>
      <p:sp>
        <p:nvSpPr>
          <p:cNvPr id="15" name="Text 12"/>
          <p:cNvSpPr/>
          <p:nvPr/>
        </p:nvSpPr>
        <p:spPr>
          <a:xfrm>
            <a:off x="1005840" y="4873752"/>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Adds nominees</a:t>
            </a:r>
            <a:endParaRPr lang="en-US" sz="1150" dirty="0"/>
          </a:p>
        </p:txBody>
      </p:sp>
      <p:sp>
        <p:nvSpPr>
          <p:cNvPr id="16" name="Shape 13"/>
          <p:cNvSpPr/>
          <p:nvPr/>
        </p:nvSpPr>
        <p:spPr>
          <a:xfrm>
            <a:off x="804672" y="5495544"/>
            <a:ext cx="100584" cy="100584"/>
          </a:xfrm>
          <a:prstGeom prst="ellipse">
            <a:avLst/>
          </a:prstGeom>
          <a:solidFill>
            <a:srgbClr val="14919B"/>
          </a:solidFill>
          <a:ln/>
        </p:spPr>
        <p:txBody>
          <a:bodyPr/>
          <a:lstStyle/>
          <a:p>
            <a:endParaRPr lang="en-IN"/>
          </a:p>
        </p:txBody>
      </p:sp>
      <p:sp>
        <p:nvSpPr>
          <p:cNvPr id="17" name="Text 14"/>
          <p:cNvSpPr/>
          <p:nvPr/>
        </p:nvSpPr>
        <p:spPr>
          <a:xfrm>
            <a:off x="1005840" y="5349240"/>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Configures inactivity period</a:t>
            </a:r>
            <a:endParaRPr lang="en-US" sz="1150" dirty="0"/>
          </a:p>
        </p:txBody>
      </p:sp>
      <p:sp>
        <p:nvSpPr>
          <p:cNvPr id="18" name="Shape 15"/>
          <p:cNvSpPr/>
          <p:nvPr/>
        </p:nvSpPr>
        <p:spPr>
          <a:xfrm>
            <a:off x="4343400" y="1691640"/>
            <a:ext cx="3593592" cy="4297680"/>
          </a:xfrm>
          <a:prstGeom prst="roundRect">
            <a:avLst>
              <a:gd name="adj" fmla="val 3053"/>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19" name="Shape 16"/>
          <p:cNvSpPr/>
          <p:nvPr/>
        </p:nvSpPr>
        <p:spPr>
          <a:xfrm>
            <a:off x="5751576" y="2011680"/>
            <a:ext cx="777240" cy="777240"/>
          </a:xfrm>
          <a:prstGeom prst="ellipse">
            <a:avLst/>
          </a:prstGeom>
          <a:solidFill>
            <a:srgbClr val="F4A300"/>
          </a:solidFill>
          <a:ln/>
        </p:spPr>
        <p:txBody>
          <a:bodyPr/>
          <a:lstStyle/>
          <a:p>
            <a:endParaRPr lang="en-IN"/>
          </a:p>
        </p:txBody>
      </p:sp>
      <p:pic>
        <p:nvPicPr>
          <p:cNvPr id="20" name="Image 1" descr="/home/claude/deadmanswitch/icons/users_white.png"/>
          <p:cNvPicPr>
            <a:picLocks noChangeAspect="1"/>
          </p:cNvPicPr>
          <p:nvPr/>
        </p:nvPicPr>
        <p:blipFill>
          <a:blip r:embed="rId4"/>
          <a:stretch>
            <a:fillRect/>
          </a:stretch>
        </p:blipFill>
        <p:spPr>
          <a:xfrm>
            <a:off x="5852617" y="2112721"/>
            <a:ext cx="575158" cy="575158"/>
          </a:xfrm>
          <a:prstGeom prst="rect">
            <a:avLst/>
          </a:prstGeom>
        </p:spPr>
      </p:pic>
      <p:sp>
        <p:nvSpPr>
          <p:cNvPr id="21" name="Text 17"/>
          <p:cNvSpPr/>
          <p:nvPr/>
        </p:nvSpPr>
        <p:spPr>
          <a:xfrm>
            <a:off x="4480560" y="2926080"/>
            <a:ext cx="3319272" cy="411480"/>
          </a:xfrm>
          <a:prstGeom prst="rect">
            <a:avLst/>
          </a:prstGeom>
          <a:no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Nominee</a:t>
            </a:r>
            <a:endParaRPr lang="en-US" sz="1650" dirty="0"/>
          </a:p>
        </p:txBody>
      </p:sp>
      <p:sp>
        <p:nvSpPr>
          <p:cNvPr id="22" name="Shape 18"/>
          <p:cNvSpPr/>
          <p:nvPr/>
        </p:nvSpPr>
        <p:spPr>
          <a:xfrm>
            <a:off x="4599432" y="3593592"/>
            <a:ext cx="100584" cy="100584"/>
          </a:xfrm>
          <a:prstGeom prst="ellipse">
            <a:avLst/>
          </a:prstGeom>
          <a:solidFill>
            <a:srgbClr val="F4A300"/>
          </a:solidFill>
          <a:ln/>
        </p:spPr>
        <p:txBody>
          <a:bodyPr/>
          <a:lstStyle/>
          <a:p>
            <a:endParaRPr lang="en-IN"/>
          </a:p>
        </p:txBody>
      </p:sp>
      <p:sp>
        <p:nvSpPr>
          <p:cNvPr id="23" name="Text 19"/>
          <p:cNvSpPr/>
          <p:nvPr/>
        </p:nvSpPr>
        <p:spPr>
          <a:xfrm>
            <a:off x="4800600" y="3447288"/>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E8F2F1"/>
                </a:solidFill>
                <a:latin typeface="Calibri" pitchFamily="34" charset="0"/>
                <a:ea typeface="Calibri" pitchFamily="34" charset="-122"/>
                <a:cs typeface="Calibri" pitchFamily="34" charset="-120"/>
              </a:rPr>
              <a:t>Receives authorized information only after the trigger conditions are met</a:t>
            </a:r>
            <a:endParaRPr lang="en-US" sz="1150" dirty="0"/>
          </a:p>
        </p:txBody>
      </p:sp>
      <p:sp>
        <p:nvSpPr>
          <p:cNvPr id="24" name="Shape 20"/>
          <p:cNvSpPr/>
          <p:nvPr/>
        </p:nvSpPr>
        <p:spPr>
          <a:xfrm>
            <a:off x="8138160" y="1691640"/>
            <a:ext cx="3593592" cy="4297680"/>
          </a:xfrm>
          <a:prstGeom prst="roundRect">
            <a:avLst>
              <a:gd name="adj" fmla="val 305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21"/>
          <p:cNvSpPr/>
          <p:nvPr/>
        </p:nvSpPr>
        <p:spPr>
          <a:xfrm>
            <a:off x="9546336" y="2011680"/>
            <a:ext cx="777240" cy="777240"/>
          </a:xfrm>
          <a:prstGeom prst="ellipse">
            <a:avLst/>
          </a:prstGeom>
          <a:solidFill>
            <a:srgbClr val="0B3D45"/>
          </a:solidFill>
          <a:ln/>
        </p:spPr>
        <p:txBody>
          <a:bodyPr/>
          <a:lstStyle/>
          <a:p>
            <a:endParaRPr lang="en-IN"/>
          </a:p>
        </p:txBody>
      </p:sp>
      <p:pic>
        <p:nvPicPr>
          <p:cNvPr id="26" name="Image 2" descr="/home/claude/deadmanswitch/icons/usershield_white.png"/>
          <p:cNvPicPr>
            <a:picLocks noChangeAspect="1"/>
          </p:cNvPicPr>
          <p:nvPr/>
        </p:nvPicPr>
        <p:blipFill>
          <a:blip r:embed="rId5"/>
          <a:stretch>
            <a:fillRect/>
          </a:stretch>
        </p:blipFill>
        <p:spPr>
          <a:xfrm>
            <a:off x="9647377" y="2112721"/>
            <a:ext cx="575158" cy="575158"/>
          </a:xfrm>
          <a:prstGeom prst="rect">
            <a:avLst/>
          </a:prstGeom>
        </p:spPr>
      </p:pic>
      <p:sp>
        <p:nvSpPr>
          <p:cNvPr id="27" name="Text 22"/>
          <p:cNvSpPr/>
          <p:nvPr/>
        </p:nvSpPr>
        <p:spPr>
          <a:xfrm>
            <a:off x="8275320" y="2926080"/>
            <a:ext cx="3319272" cy="411480"/>
          </a:xfrm>
          <a:prstGeom prst="rect">
            <a:avLst/>
          </a:prstGeom>
          <a:noFill/>
          <a:ln/>
        </p:spPr>
        <p:txBody>
          <a:bodyPr wrap="square" lIns="0" tIns="0" rIns="0" bIns="0" rtlCol="0" anchor="ctr"/>
          <a:lstStyle/>
          <a:p>
            <a:pPr marL="0" indent="0" algn="ctr">
              <a:buNone/>
            </a:pPr>
            <a:r>
              <a:rPr lang="en-US" sz="1650" b="1" dirty="0">
                <a:solidFill>
                  <a:srgbClr val="0B3D45"/>
                </a:solidFill>
                <a:latin typeface="Cambria" pitchFamily="34" charset="0"/>
                <a:ea typeface="Cambria" pitchFamily="34" charset="-122"/>
                <a:cs typeface="Cambria" pitchFamily="34" charset="-120"/>
              </a:rPr>
              <a:t>Administrator</a:t>
            </a:r>
            <a:endParaRPr lang="en-US" sz="1650" dirty="0"/>
          </a:p>
        </p:txBody>
      </p:sp>
      <p:sp>
        <p:nvSpPr>
          <p:cNvPr id="28" name="Shape 23"/>
          <p:cNvSpPr/>
          <p:nvPr/>
        </p:nvSpPr>
        <p:spPr>
          <a:xfrm>
            <a:off x="8394192" y="3593592"/>
            <a:ext cx="100584" cy="100584"/>
          </a:xfrm>
          <a:prstGeom prst="ellipse">
            <a:avLst/>
          </a:prstGeom>
          <a:solidFill>
            <a:srgbClr val="14919B"/>
          </a:solidFill>
          <a:ln/>
        </p:spPr>
        <p:txBody>
          <a:bodyPr/>
          <a:lstStyle/>
          <a:p>
            <a:endParaRPr lang="en-IN"/>
          </a:p>
        </p:txBody>
      </p:sp>
      <p:sp>
        <p:nvSpPr>
          <p:cNvPr id="29" name="Text 24"/>
          <p:cNvSpPr/>
          <p:nvPr/>
        </p:nvSpPr>
        <p:spPr>
          <a:xfrm>
            <a:off x="8595360" y="3447288"/>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Manages users</a:t>
            </a:r>
            <a:endParaRPr lang="en-US" sz="1150" dirty="0"/>
          </a:p>
        </p:txBody>
      </p:sp>
      <p:sp>
        <p:nvSpPr>
          <p:cNvPr id="30" name="Shape 25"/>
          <p:cNvSpPr/>
          <p:nvPr/>
        </p:nvSpPr>
        <p:spPr>
          <a:xfrm>
            <a:off x="8394192" y="4069080"/>
            <a:ext cx="100584" cy="100584"/>
          </a:xfrm>
          <a:prstGeom prst="ellipse">
            <a:avLst/>
          </a:prstGeom>
          <a:solidFill>
            <a:srgbClr val="14919B"/>
          </a:solidFill>
          <a:ln/>
        </p:spPr>
        <p:txBody>
          <a:bodyPr/>
          <a:lstStyle/>
          <a:p>
            <a:endParaRPr lang="en-IN"/>
          </a:p>
        </p:txBody>
      </p:sp>
      <p:sp>
        <p:nvSpPr>
          <p:cNvPr id="31" name="Text 26"/>
          <p:cNvSpPr/>
          <p:nvPr/>
        </p:nvSpPr>
        <p:spPr>
          <a:xfrm>
            <a:off x="8595360" y="3922776"/>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Monitors system logs</a:t>
            </a:r>
            <a:endParaRPr lang="en-US" sz="1150" dirty="0"/>
          </a:p>
        </p:txBody>
      </p:sp>
      <p:sp>
        <p:nvSpPr>
          <p:cNvPr id="32" name="Shape 27"/>
          <p:cNvSpPr/>
          <p:nvPr/>
        </p:nvSpPr>
        <p:spPr>
          <a:xfrm>
            <a:off x="8394192" y="4544568"/>
            <a:ext cx="100584" cy="100584"/>
          </a:xfrm>
          <a:prstGeom prst="ellipse">
            <a:avLst/>
          </a:prstGeom>
          <a:solidFill>
            <a:srgbClr val="14919B"/>
          </a:solidFill>
          <a:ln/>
        </p:spPr>
        <p:txBody>
          <a:bodyPr/>
          <a:lstStyle/>
          <a:p>
            <a:endParaRPr lang="en-IN"/>
          </a:p>
        </p:txBody>
      </p:sp>
      <p:sp>
        <p:nvSpPr>
          <p:cNvPr id="33" name="Text 28"/>
          <p:cNvSpPr/>
          <p:nvPr/>
        </p:nvSpPr>
        <p:spPr>
          <a:xfrm>
            <a:off x="8595360" y="4398264"/>
            <a:ext cx="2907792" cy="502920"/>
          </a:xfrm>
          <a:prstGeom prst="rect">
            <a:avLst/>
          </a:prstGeom>
          <a:noFill/>
          <a:ln/>
        </p:spPr>
        <p:txBody>
          <a:bodyPr wrap="square" lIns="0" tIns="0" rIns="0" bIns="0" rtlCol="0" anchor="t"/>
          <a:lstStyle/>
          <a:p>
            <a:pPr marL="0" indent="0">
              <a:lnSpc>
                <a:spcPct val="110000"/>
              </a:lnSpc>
              <a:buNone/>
            </a:pPr>
            <a:r>
              <a:rPr lang="en-US" sz="1150" dirty="0">
                <a:solidFill>
                  <a:srgbClr val="13293D"/>
                </a:solidFill>
                <a:latin typeface="Calibri" pitchFamily="34" charset="0"/>
                <a:ea typeface="Calibri" pitchFamily="34" charset="-122"/>
                <a:cs typeface="Calibri" pitchFamily="34" charset="-120"/>
              </a:rPr>
              <a:t>Maintains application performance</a:t>
            </a:r>
            <a:endParaRPr lang="en-US" sz="1150" dirty="0"/>
          </a:p>
        </p:txBody>
      </p:sp>
      <p:sp>
        <p:nvSpPr>
          <p:cNvPr id="34" name="Text 29"/>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5" name="Text 30"/>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TECH STACK</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Technologies Used</a:t>
            </a:r>
            <a:endParaRPr lang="en-US" sz="3000" dirty="0"/>
          </a:p>
        </p:txBody>
      </p:sp>
      <p:sp>
        <p:nvSpPr>
          <p:cNvPr id="4" name="Shape 2"/>
          <p:cNvSpPr/>
          <p:nvPr/>
        </p:nvSpPr>
        <p:spPr>
          <a:xfrm>
            <a:off x="548640" y="1691640"/>
            <a:ext cx="2121408" cy="4206240"/>
          </a:xfrm>
          <a:prstGeom prst="roundRect">
            <a:avLst>
              <a:gd name="adj" fmla="val 517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1289304" y="1984248"/>
            <a:ext cx="640080" cy="640080"/>
          </a:xfrm>
          <a:prstGeom prst="ellipse">
            <a:avLst/>
          </a:prstGeom>
          <a:solidFill>
            <a:srgbClr val="0B3D45"/>
          </a:solidFill>
          <a:ln/>
        </p:spPr>
        <p:txBody>
          <a:bodyPr/>
          <a:lstStyle/>
          <a:p>
            <a:endParaRPr lang="en-IN"/>
          </a:p>
        </p:txBody>
      </p:sp>
      <p:pic>
        <p:nvPicPr>
          <p:cNvPr id="6" name="Image 0" descr="/home/claude/deadmanswitch/icons/laptop_white.png"/>
          <p:cNvPicPr>
            <a:picLocks noChangeAspect="1"/>
          </p:cNvPicPr>
          <p:nvPr/>
        </p:nvPicPr>
        <p:blipFill>
          <a:blip r:embed="rId3"/>
          <a:stretch>
            <a:fillRect/>
          </a:stretch>
        </p:blipFill>
        <p:spPr>
          <a:xfrm>
            <a:off x="1372514" y="2067458"/>
            <a:ext cx="473659" cy="473659"/>
          </a:xfrm>
          <a:prstGeom prst="rect">
            <a:avLst/>
          </a:prstGeom>
        </p:spPr>
      </p:pic>
      <p:sp>
        <p:nvSpPr>
          <p:cNvPr id="7" name="Text 4"/>
          <p:cNvSpPr/>
          <p:nvPr/>
        </p:nvSpPr>
        <p:spPr>
          <a:xfrm>
            <a:off x="640080" y="2788920"/>
            <a:ext cx="1938528" cy="548640"/>
          </a:xfrm>
          <a:prstGeom prst="rect">
            <a:avLst/>
          </a:prstGeom>
          <a:noFill/>
          <a:ln/>
        </p:spPr>
        <p:txBody>
          <a:bodyPr wrap="square" lIns="0" tIns="0" rIns="0" bIns="0" rtlCol="0" anchor="t"/>
          <a:lstStyle/>
          <a:p>
            <a:pPr marL="0" indent="0" algn="ctr">
              <a:buNone/>
            </a:pPr>
            <a:r>
              <a:rPr lang="en-US" sz="1350" b="1" dirty="0">
                <a:solidFill>
                  <a:srgbClr val="0B3D45"/>
                </a:solidFill>
                <a:latin typeface="Cambria" pitchFamily="34" charset="0"/>
                <a:ea typeface="Cambria" pitchFamily="34" charset="-122"/>
                <a:cs typeface="Cambria" pitchFamily="34" charset="-120"/>
              </a:rPr>
              <a:t>Frontend</a:t>
            </a:r>
            <a:endParaRPr lang="en-US" sz="1350" dirty="0"/>
          </a:p>
        </p:txBody>
      </p:sp>
      <p:sp>
        <p:nvSpPr>
          <p:cNvPr id="8" name="Text 5"/>
          <p:cNvSpPr/>
          <p:nvPr/>
        </p:nvSpPr>
        <p:spPr>
          <a:xfrm>
            <a:off x="640080" y="34747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HTML</a:t>
            </a:r>
            <a:endParaRPr lang="en-US" sz="1150" dirty="0"/>
          </a:p>
        </p:txBody>
      </p:sp>
      <p:sp>
        <p:nvSpPr>
          <p:cNvPr id="9" name="Text 6"/>
          <p:cNvSpPr/>
          <p:nvPr/>
        </p:nvSpPr>
        <p:spPr>
          <a:xfrm>
            <a:off x="640080" y="39319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CSS</a:t>
            </a:r>
            <a:endParaRPr lang="en-US" sz="1150" dirty="0"/>
          </a:p>
        </p:txBody>
      </p:sp>
      <p:sp>
        <p:nvSpPr>
          <p:cNvPr id="10" name="Text 7"/>
          <p:cNvSpPr/>
          <p:nvPr/>
        </p:nvSpPr>
        <p:spPr>
          <a:xfrm>
            <a:off x="640080" y="43891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Bootstrap</a:t>
            </a:r>
            <a:endParaRPr lang="en-US" sz="1150" dirty="0"/>
          </a:p>
        </p:txBody>
      </p:sp>
      <p:sp>
        <p:nvSpPr>
          <p:cNvPr id="11" name="Text 8"/>
          <p:cNvSpPr/>
          <p:nvPr/>
        </p:nvSpPr>
        <p:spPr>
          <a:xfrm>
            <a:off x="640080" y="48463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JavaScript</a:t>
            </a:r>
            <a:endParaRPr lang="en-US" sz="1150" dirty="0"/>
          </a:p>
        </p:txBody>
      </p:sp>
      <p:sp>
        <p:nvSpPr>
          <p:cNvPr id="12" name="Shape 9"/>
          <p:cNvSpPr/>
          <p:nvPr/>
        </p:nvSpPr>
        <p:spPr>
          <a:xfrm>
            <a:off x="2871216" y="1691640"/>
            <a:ext cx="2121408" cy="4206240"/>
          </a:xfrm>
          <a:prstGeom prst="roundRect">
            <a:avLst>
              <a:gd name="adj" fmla="val 517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3" name="Shape 10"/>
          <p:cNvSpPr/>
          <p:nvPr/>
        </p:nvSpPr>
        <p:spPr>
          <a:xfrm>
            <a:off x="3611880" y="1984248"/>
            <a:ext cx="640080" cy="640080"/>
          </a:xfrm>
          <a:prstGeom prst="ellipse">
            <a:avLst/>
          </a:prstGeom>
          <a:solidFill>
            <a:srgbClr val="0B3D45"/>
          </a:solidFill>
          <a:ln/>
        </p:spPr>
        <p:txBody>
          <a:bodyPr/>
          <a:lstStyle/>
          <a:p>
            <a:endParaRPr lang="en-IN"/>
          </a:p>
        </p:txBody>
      </p:sp>
      <p:pic>
        <p:nvPicPr>
          <p:cNvPr id="14" name="Image 1" descr="/home/claude/deadmanswitch/icons/code_white.png"/>
          <p:cNvPicPr>
            <a:picLocks noChangeAspect="1"/>
          </p:cNvPicPr>
          <p:nvPr/>
        </p:nvPicPr>
        <p:blipFill>
          <a:blip r:embed="rId4"/>
          <a:stretch>
            <a:fillRect/>
          </a:stretch>
        </p:blipFill>
        <p:spPr>
          <a:xfrm>
            <a:off x="3695090" y="2067458"/>
            <a:ext cx="473659" cy="473659"/>
          </a:xfrm>
          <a:prstGeom prst="rect">
            <a:avLst/>
          </a:prstGeom>
        </p:spPr>
      </p:pic>
      <p:sp>
        <p:nvSpPr>
          <p:cNvPr id="15" name="Text 11"/>
          <p:cNvSpPr/>
          <p:nvPr/>
        </p:nvSpPr>
        <p:spPr>
          <a:xfrm>
            <a:off x="2962656" y="2788920"/>
            <a:ext cx="1938528" cy="548640"/>
          </a:xfrm>
          <a:prstGeom prst="rect">
            <a:avLst/>
          </a:prstGeom>
          <a:noFill/>
          <a:ln/>
        </p:spPr>
        <p:txBody>
          <a:bodyPr wrap="square" lIns="0" tIns="0" rIns="0" bIns="0" rtlCol="0" anchor="t"/>
          <a:lstStyle/>
          <a:p>
            <a:pPr marL="0" indent="0" algn="ctr">
              <a:buNone/>
            </a:pPr>
            <a:r>
              <a:rPr lang="en-US" sz="1350" b="1" dirty="0">
                <a:solidFill>
                  <a:srgbClr val="0B3D45"/>
                </a:solidFill>
                <a:latin typeface="Cambria" pitchFamily="34" charset="0"/>
                <a:ea typeface="Cambria" pitchFamily="34" charset="-122"/>
                <a:cs typeface="Cambria" pitchFamily="34" charset="-120"/>
              </a:rPr>
              <a:t>Backend</a:t>
            </a:r>
            <a:endParaRPr lang="en-US" sz="1350" dirty="0"/>
          </a:p>
        </p:txBody>
      </p:sp>
      <p:sp>
        <p:nvSpPr>
          <p:cNvPr id="16" name="Text 12"/>
          <p:cNvSpPr/>
          <p:nvPr/>
        </p:nvSpPr>
        <p:spPr>
          <a:xfrm>
            <a:off x="2962656" y="34747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Python</a:t>
            </a:r>
            <a:endParaRPr lang="en-US" sz="1150" dirty="0"/>
          </a:p>
        </p:txBody>
      </p:sp>
      <p:sp>
        <p:nvSpPr>
          <p:cNvPr id="17" name="Text 13"/>
          <p:cNvSpPr/>
          <p:nvPr/>
        </p:nvSpPr>
        <p:spPr>
          <a:xfrm>
            <a:off x="2962656" y="39319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Flask</a:t>
            </a:r>
            <a:endParaRPr lang="en-US" sz="1150" dirty="0"/>
          </a:p>
        </p:txBody>
      </p:sp>
      <p:sp>
        <p:nvSpPr>
          <p:cNvPr id="18" name="Shape 14"/>
          <p:cNvSpPr/>
          <p:nvPr/>
        </p:nvSpPr>
        <p:spPr>
          <a:xfrm>
            <a:off x="5193792" y="1691640"/>
            <a:ext cx="2121408" cy="4206240"/>
          </a:xfrm>
          <a:prstGeom prst="roundRect">
            <a:avLst>
              <a:gd name="adj" fmla="val 517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9" name="Shape 15"/>
          <p:cNvSpPr/>
          <p:nvPr/>
        </p:nvSpPr>
        <p:spPr>
          <a:xfrm>
            <a:off x="5934456" y="1984248"/>
            <a:ext cx="640080" cy="640080"/>
          </a:xfrm>
          <a:prstGeom prst="ellipse">
            <a:avLst/>
          </a:prstGeom>
          <a:solidFill>
            <a:srgbClr val="0B3D45"/>
          </a:solidFill>
          <a:ln/>
        </p:spPr>
        <p:txBody>
          <a:bodyPr/>
          <a:lstStyle/>
          <a:p>
            <a:endParaRPr lang="en-IN"/>
          </a:p>
        </p:txBody>
      </p:sp>
      <p:pic>
        <p:nvPicPr>
          <p:cNvPr id="20" name="Image 2" descr="/home/claude/deadmanswitch/icons/database_white.png"/>
          <p:cNvPicPr>
            <a:picLocks noChangeAspect="1"/>
          </p:cNvPicPr>
          <p:nvPr/>
        </p:nvPicPr>
        <p:blipFill>
          <a:blip r:embed="rId5"/>
          <a:stretch>
            <a:fillRect/>
          </a:stretch>
        </p:blipFill>
        <p:spPr>
          <a:xfrm>
            <a:off x="6017666" y="2067458"/>
            <a:ext cx="473659" cy="473659"/>
          </a:xfrm>
          <a:prstGeom prst="rect">
            <a:avLst/>
          </a:prstGeom>
        </p:spPr>
      </p:pic>
      <p:sp>
        <p:nvSpPr>
          <p:cNvPr id="21" name="Text 16"/>
          <p:cNvSpPr/>
          <p:nvPr/>
        </p:nvSpPr>
        <p:spPr>
          <a:xfrm>
            <a:off x="5285232" y="2788920"/>
            <a:ext cx="1938528" cy="548640"/>
          </a:xfrm>
          <a:prstGeom prst="rect">
            <a:avLst/>
          </a:prstGeom>
          <a:noFill/>
          <a:ln/>
        </p:spPr>
        <p:txBody>
          <a:bodyPr wrap="square" lIns="0" tIns="0" rIns="0" bIns="0" rtlCol="0" anchor="t"/>
          <a:lstStyle/>
          <a:p>
            <a:pPr marL="0" indent="0" algn="ctr">
              <a:buNone/>
            </a:pPr>
            <a:r>
              <a:rPr lang="en-US" sz="1350" b="1" dirty="0">
                <a:solidFill>
                  <a:srgbClr val="0B3D45"/>
                </a:solidFill>
                <a:latin typeface="Cambria" pitchFamily="34" charset="0"/>
                <a:ea typeface="Cambria" pitchFamily="34" charset="-122"/>
                <a:cs typeface="Cambria" pitchFamily="34" charset="-120"/>
              </a:rPr>
              <a:t>Database</a:t>
            </a:r>
            <a:endParaRPr lang="en-US" sz="1350" dirty="0"/>
          </a:p>
        </p:txBody>
      </p:sp>
      <p:sp>
        <p:nvSpPr>
          <p:cNvPr id="22" name="Text 17"/>
          <p:cNvSpPr/>
          <p:nvPr/>
        </p:nvSpPr>
        <p:spPr>
          <a:xfrm>
            <a:off x="5285232" y="34747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MySQL</a:t>
            </a:r>
            <a:endParaRPr lang="en-US" sz="1150" dirty="0"/>
          </a:p>
        </p:txBody>
      </p:sp>
      <p:sp>
        <p:nvSpPr>
          <p:cNvPr id="23" name="Shape 18"/>
          <p:cNvSpPr/>
          <p:nvPr/>
        </p:nvSpPr>
        <p:spPr>
          <a:xfrm>
            <a:off x="7516368" y="1691640"/>
            <a:ext cx="2121408" cy="4206240"/>
          </a:xfrm>
          <a:prstGeom prst="roundRect">
            <a:avLst>
              <a:gd name="adj" fmla="val 517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4" name="Shape 19"/>
          <p:cNvSpPr/>
          <p:nvPr/>
        </p:nvSpPr>
        <p:spPr>
          <a:xfrm>
            <a:off x="8257032" y="1984248"/>
            <a:ext cx="640080" cy="640080"/>
          </a:xfrm>
          <a:prstGeom prst="ellipse">
            <a:avLst/>
          </a:prstGeom>
          <a:solidFill>
            <a:srgbClr val="0B3D45"/>
          </a:solidFill>
          <a:ln/>
        </p:spPr>
        <p:txBody>
          <a:bodyPr/>
          <a:lstStyle/>
          <a:p>
            <a:endParaRPr lang="en-IN"/>
          </a:p>
        </p:txBody>
      </p:sp>
      <p:pic>
        <p:nvPicPr>
          <p:cNvPr id="25" name="Image 3" descr="/home/claude/deadmanswitch/icons/google_white.png"/>
          <p:cNvPicPr>
            <a:picLocks noChangeAspect="1"/>
          </p:cNvPicPr>
          <p:nvPr/>
        </p:nvPicPr>
        <p:blipFill>
          <a:blip r:embed="rId6"/>
          <a:stretch>
            <a:fillRect/>
          </a:stretch>
        </p:blipFill>
        <p:spPr>
          <a:xfrm>
            <a:off x="8340242" y="2067458"/>
            <a:ext cx="473659" cy="473659"/>
          </a:xfrm>
          <a:prstGeom prst="rect">
            <a:avLst/>
          </a:prstGeom>
        </p:spPr>
      </p:pic>
      <p:sp>
        <p:nvSpPr>
          <p:cNvPr id="26" name="Text 20"/>
          <p:cNvSpPr/>
          <p:nvPr/>
        </p:nvSpPr>
        <p:spPr>
          <a:xfrm>
            <a:off x="7607808" y="2788920"/>
            <a:ext cx="1938528" cy="548640"/>
          </a:xfrm>
          <a:prstGeom prst="rect">
            <a:avLst/>
          </a:prstGeom>
          <a:noFill/>
          <a:ln/>
        </p:spPr>
        <p:txBody>
          <a:bodyPr wrap="square" lIns="0" tIns="0" rIns="0" bIns="0" rtlCol="0" anchor="t"/>
          <a:lstStyle/>
          <a:p>
            <a:pPr marL="0" indent="0" algn="ctr">
              <a:buNone/>
            </a:pPr>
            <a:r>
              <a:rPr lang="en-US" sz="1350" b="1" dirty="0">
                <a:solidFill>
                  <a:srgbClr val="0B3D45"/>
                </a:solidFill>
                <a:latin typeface="Cambria" pitchFamily="34" charset="0"/>
                <a:ea typeface="Cambria" pitchFamily="34" charset="-122"/>
                <a:cs typeface="Cambria" pitchFamily="34" charset="-120"/>
              </a:rPr>
              <a:t>Email Service</a:t>
            </a:r>
            <a:endParaRPr lang="en-US" sz="1350" dirty="0"/>
          </a:p>
        </p:txBody>
      </p:sp>
      <p:sp>
        <p:nvSpPr>
          <p:cNvPr id="27" name="Text 21"/>
          <p:cNvSpPr/>
          <p:nvPr/>
        </p:nvSpPr>
        <p:spPr>
          <a:xfrm>
            <a:off x="7607808" y="3474720"/>
            <a:ext cx="1938528" cy="411480"/>
          </a:xfrm>
          <a:prstGeom prst="rect">
            <a:avLst/>
          </a:prstGeom>
          <a:noFill/>
          <a:ln/>
        </p:spPr>
        <p:txBody>
          <a:bodyPr wrap="square" lIns="0" tIns="0" rIns="0" bIns="0" rtlCol="0" anchor="ctr"/>
          <a:lstStyle/>
          <a:p>
            <a:pPr marL="0" indent="0" algn="ctr">
              <a:buNone/>
            </a:pPr>
            <a:r>
              <a:rPr lang="en-US" sz="1150" dirty="0">
                <a:solidFill>
                  <a:srgbClr val="13293D"/>
                </a:solidFill>
                <a:latin typeface="Calibri" pitchFamily="34" charset="0"/>
                <a:ea typeface="Calibri" pitchFamily="34" charset="-122"/>
                <a:cs typeface="Calibri" pitchFamily="34" charset="-120"/>
              </a:rPr>
              <a:t>Gmail SMTP</a:t>
            </a:r>
            <a:endParaRPr lang="en-US" sz="1150" dirty="0"/>
          </a:p>
        </p:txBody>
      </p:sp>
      <p:sp>
        <p:nvSpPr>
          <p:cNvPr id="28" name="Shape 22"/>
          <p:cNvSpPr/>
          <p:nvPr/>
        </p:nvSpPr>
        <p:spPr>
          <a:xfrm>
            <a:off x="9838944" y="1691640"/>
            <a:ext cx="2121408" cy="4206240"/>
          </a:xfrm>
          <a:prstGeom prst="roundRect">
            <a:avLst>
              <a:gd name="adj" fmla="val 5172"/>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29" name="Shape 23"/>
          <p:cNvSpPr/>
          <p:nvPr/>
        </p:nvSpPr>
        <p:spPr>
          <a:xfrm>
            <a:off x="10579608" y="1984248"/>
            <a:ext cx="640080" cy="640080"/>
          </a:xfrm>
          <a:prstGeom prst="ellipse">
            <a:avLst/>
          </a:prstGeom>
          <a:solidFill>
            <a:srgbClr val="F4A300"/>
          </a:solidFill>
          <a:ln/>
        </p:spPr>
        <p:txBody>
          <a:bodyPr/>
          <a:lstStyle/>
          <a:p>
            <a:endParaRPr lang="en-IN"/>
          </a:p>
        </p:txBody>
      </p:sp>
      <p:pic>
        <p:nvPicPr>
          <p:cNvPr id="30" name="Image 4" descr="/home/claude/deadmanswitch/icons/git_white.png"/>
          <p:cNvPicPr>
            <a:picLocks noChangeAspect="1"/>
          </p:cNvPicPr>
          <p:nvPr/>
        </p:nvPicPr>
        <p:blipFill>
          <a:blip r:embed="rId7"/>
          <a:stretch>
            <a:fillRect/>
          </a:stretch>
        </p:blipFill>
        <p:spPr>
          <a:xfrm>
            <a:off x="10662818" y="2067458"/>
            <a:ext cx="473659" cy="473659"/>
          </a:xfrm>
          <a:prstGeom prst="rect">
            <a:avLst/>
          </a:prstGeom>
        </p:spPr>
      </p:pic>
      <p:sp>
        <p:nvSpPr>
          <p:cNvPr id="31" name="Text 24"/>
          <p:cNvSpPr/>
          <p:nvPr/>
        </p:nvSpPr>
        <p:spPr>
          <a:xfrm>
            <a:off x="9930384" y="2788920"/>
            <a:ext cx="1938528" cy="548640"/>
          </a:xfrm>
          <a:prstGeom prst="rect">
            <a:avLst/>
          </a:prstGeom>
          <a:noFill/>
          <a:ln/>
        </p:spPr>
        <p:txBody>
          <a:bodyPr wrap="square" lIns="0" tIns="0" rIns="0" bIns="0" rtlCol="0" anchor="t"/>
          <a:lstStyle/>
          <a:p>
            <a:pPr marL="0" indent="0" algn="ctr">
              <a:buNone/>
            </a:pPr>
            <a:r>
              <a:rPr lang="en-US" sz="1350" b="1" dirty="0">
                <a:solidFill>
                  <a:srgbClr val="FFFFFF"/>
                </a:solidFill>
                <a:latin typeface="Cambria" pitchFamily="34" charset="0"/>
                <a:ea typeface="Cambria" pitchFamily="34" charset="-122"/>
                <a:cs typeface="Cambria" pitchFamily="34" charset="-120"/>
              </a:rPr>
              <a:t>Dev Tools</a:t>
            </a:r>
            <a:endParaRPr lang="en-US" sz="1350" dirty="0"/>
          </a:p>
        </p:txBody>
      </p:sp>
      <p:sp>
        <p:nvSpPr>
          <p:cNvPr id="32" name="Text 25"/>
          <p:cNvSpPr/>
          <p:nvPr/>
        </p:nvSpPr>
        <p:spPr>
          <a:xfrm>
            <a:off x="9930384" y="3474720"/>
            <a:ext cx="1938528" cy="411480"/>
          </a:xfrm>
          <a:prstGeom prst="rect">
            <a:avLst/>
          </a:prstGeom>
          <a:noFill/>
          <a:ln/>
        </p:spPr>
        <p:txBody>
          <a:bodyPr wrap="square" lIns="0" tIns="0" rIns="0" bIns="0" rtlCol="0" anchor="ctr"/>
          <a:lstStyle/>
          <a:p>
            <a:pPr marL="0" indent="0" algn="ctr">
              <a:buNone/>
            </a:pPr>
            <a:r>
              <a:rPr lang="en-US" sz="1150" dirty="0">
                <a:solidFill>
                  <a:srgbClr val="E8F2F1"/>
                </a:solidFill>
                <a:latin typeface="Calibri" pitchFamily="34" charset="0"/>
                <a:ea typeface="Calibri" pitchFamily="34" charset="-122"/>
                <a:cs typeface="Calibri" pitchFamily="34" charset="-120"/>
              </a:rPr>
              <a:t>VS Code</a:t>
            </a:r>
            <a:endParaRPr lang="en-US" sz="1150" dirty="0"/>
          </a:p>
        </p:txBody>
      </p:sp>
      <p:sp>
        <p:nvSpPr>
          <p:cNvPr id="33" name="Text 26"/>
          <p:cNvSpPr/>
          <p:nvPr/>
        </p:nvSpPr>
        <p:spPr>
          <a:xfrm>
            <a:off x="9930384" y="3931920"/>
            <a:ext cx="1938528" cy="411480"/>
          </a:xfrm>
          <a:prstGeom prst="rect">
            <a:avLst/>
          </a:prstGeom>
          <a:noFill/>
          <a:ln/>
        </p:spPr>
        <p:txBody>
          <a:bodyPr wrap="square" lIns="0" tIns="0" rIns="0" bIns="0" rtlCol="0" anchor="ctr"/>
          <a:lstStyle/>
          <a:p>
            <a:pPr marL="0" indent="0" algn="ctr">
              <a:buNone/>
            </a:pPr>
            <a:r>
              <a:rPr lang="en-US" sz="1150" dirty="0">
                <a:solidFill>
                  <a:srgbClr val="E8F2F1"/>
                </a:solidFill>
                <a:latin typeface="Calibri" pitchFamily="34" charset="0"/>
                <a:ea typeface="Calibri" pitchFamily="34" charset="-122"/>
                <a:cs typeface="Calibri" pitchFamily="34" charset="-120"/>
              </a:rPr>
              <a:t>Git</a:t>
            </a:r>
            <a:endParaRPr lang="en-US" sz="1150" dirty="0"/>
          </a:p>
        </p:txBody>
      </p:sp>
      <p:sp>
        <p:nvSpPr>
          <p:cNvPr id="34" name="Text 27"/>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5" name="Text 28"/>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SYSTEM BREAKDOWN</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Main Modules</a:t>
            </a:r>
            <a:endParaRPr lang="en-US" sz="3000" dirty="0"/>
          </a:p>
        </p:txBody>
      </p:sp>
      <p:sp>
        <p:nvSpPr>
          <p:cNvPr id="4" name="Shape 2"/>
          <p:cNvSpPr/>
          <p:nvPr/>
        </p:nvSpPr>
        <p:spPr>
          <a:xfrm>
            <a:off x="548640" y="1627632"/>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731520" y="2039112"/>
            <a:ext cx="530352" cy="530352"/>
          </a:xfrm>
          <a:prstGeom prst="ellipse">
            <a:avLst/>
          </a:prstGeom>
          <a:solidFill>
            <a:srgbClr val="0B3D45"/>
          </a:solidFill>
          <a:ln/>
        </p:spPr>
        <p:txBody>
          <a:bodyPr/>
          <a:lstStyle/>
          <a:p>
            <a:endParaRPr lang="en-IN"/>
          </a:p>
        </p:txBody>
      </p:sp>
      <p:pic>
        <p:nvPicPr>
          <p:cNvPr id="6" name="Image 0" descr="/home/claude/deadmanswitch/icons/userlock_amber.png"/>
          <p:cNvPicPr>
            <a:picLocks noChangeAspect="1"/>
          </p:cNvPicPr>
          <p:nvPr/>
        </p:nvPicPr>
        <p:blipFill>
          <a:blip r:embed="rId3"/>
          <a:stretch>
            <a:fillRect/>
          </a:stretch>
        </p:blipFill>
        <p:spPr>
          <a:xfrm>
            <a:off x="800466" y="2108058"/>
            <a:ext cx="392460" cy="392460"/>
          </a:xfrm>
          <a:prstGeom prst="rect">
            <a:avLst/>
          </a:prstGeom>
        </p:spPr>
      </p:pic>
      <p:sp>
        <p:nvSpPr>
          <p:cNvPr id="7" name="Text 4"/>
          <p:cNvSpPr/>
          <p:nvPr/>
        </p:nvSpPr>
        <p:spPr>
          <a:xfrm>
            <a:off x="1389888" y="1755648"/>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User Registration &amp; Login</a:t>
            </a:r>
            <a:endParaRPr lang="en-US" sz="1150" dirty="0"/>
          </a:p>
        </p:txBody>
      </p:sp>
      <p:sp>
        <p:nvSpPr>
          <p:cNvPr id="8" name="Text 5"/>
          <p:cNvSpPr/>
          <p:nvPr/>
        </p:nvSpPr>
        <p:spPr>
          <a:xfrm>
            <a:off x="1389888" y="2203704"/>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Secure sign-up and authentication for all users.</a:t>
            </a:r>
            <a:endParaRPr lang="en-US" sz="980" dirty="0"/>
          </a:p>
        </p:txBody>
      </p:sp>
      <p:sp>
        <p:nvSpPr>
          <p:cNvPr id="9" name="Shape 6"/>
          <p:cNvSpPr/>
          <p:nvPr/>
        </p:nvSpPr>
        <p:spPr>
          <a:xfrm>
            <a:off x="4443984" y="1627632"/>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0" name="Shape 7"/>
          <p:cNvSpPr/>
          <p:nvPr/>
        </p:nvSpPr>
        <p:spPr>
          <a:xfrm>
            <a:off x="4626864" y="2039112"/>
            <a:ext cx="530352" cy="530352"/>
          </a:xfrm>
          <a:prstGeom prst="ellipse">
            <a:avLst/>
          </a:prstGeom>
          <a:solidFill>
            <a:srgbClr val="0B3D45"/>
          </a:solidFill>
          <a:ln/>
        </p:spPr>
        <p:txBody>
          <a:bodyPr/>
          <a:lstStyle/>
          <a:p>
            <a:endParaRPr lang="en-IN"/>
          </a:p>
        </p:txBody>
      </p:sp>
      <p:pic>
        <p:nvPicPr>
          <p:cNvPr id="11" name="Image 1" descr="/home/claude/deadmanswitch/icons/safe_amber.png"/>
          <p:cNvPicPr>
            <a:picLocks noChangeAspect="1"/>
          </p:cNvPicPr>
          <p:nvPr/>
        </p:nvPicPr>
        <p:blipFill>
          <a:blip r:embed="rId4"/>
          <a:stretch>
            <a:fillRect/>
          </a:stretch>
        </p:blipFill>
        <p:spPr>
          <a:xfrm>
            <a:off x="4695810" y="2108058"/>
            <a:ext cx="392460" cy="392460"/>
          </a:xfrm>
          <a:prstGeom prst="rect">
            <a:avLst/>
          </a:prstGeom>
        </p:spPr>
      </p:pic>
      <p:sp>
        <p:nvSpPr>
          <p:cNvPr id="12" name="Text 8"/>
          <p:cNvSpPr/>
          <p:nvPr/>
        </p:nvSpPr>
        <p:spPr>
          <a:xfrm>
            <a:off x="5285232" y="1755648"/>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Digital Vault Management</a:t>
            </a:r>
            <a:endParaRPr lang="en-US" sz="1150" dirty="0"/>
          </a:p>
        </p:txBody>
      </p:sp>
      <p:sp>
        <p:nvSpPr>
          <p:cNvPr id="13" name="Text 9"/>
          <p:cNvSpPr/>
          <p:nvPr/>
        </p:nvSpPr>
        <p:spPr>
          <a:xfrm>
            <a:off x="5285232" y="2203704"/>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Central hub to organize and manage stored data.</a:t>
            </a:r>
            <a:endParaRPr lang="en-US" sz="980" dirty="0"/>
          </a:p>
        </p:txBody>
      </p:sp>
      <p:sp>
        <p:nvSpPr>
          <p:cNvPr id="14" name="Shape 10"/>
          <p:cNvSpPr/>
          <p:nvPr/>
        </p:nvSpPr>
        <p:spPr>
          <a:xfrm>
            <a:off x="8339328" y="1627632"/>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5" name="Shape 11"/>
          <p:cNvSpPr/>
          <p:nvPr/>
        </p:nvSpPr>
        <p:spPr>
          <a:xfrm>
            <a:off x="8522208" y="2039112"/>
            <a:ext cx="530352" cy="530352"/>
          </a:xfrm>
          <a:prstGeom prst="ellipse">
            <a:avLst/>
          </a:prstGeom>
          <a:solidFill>
            <a:srgbClr val="0B3D45"/>
          </a:solidFill>
          <a:ln/>
        </p:spPr>
        <p:txBody>
          <a:bodyPr/>
          <a:lstStyle/>
          <a:p>
            <a:endParaRPr lang="en-IN"/>
          </a:p>
        </p:txBody>
      </p:sp>
      <p:pic>
        <p:nvPicPr>
          <p:cNvPr id="16" name="Image 2" descr="/home/claude/deadmanswitch/icons/fileupload_amber.png"/>
          <p:cNvPicPr>
            <a:picLocks noChangeAspect="1"/>
          </p:cNvPicPr>
          <p:nvPr/>
        </p:nvPicPr>
        <p:blipFill>
          <a:blip r:embed="rId5"/>
          <a:stretch>
            <a:fillRect/>
          </a:stretch>
        </p:blipFill>
        <p:spPr>
          <a:xfrm>
            <a:off x="8591154" y="2108058"/>
            <a:ext cx="392460" cy="392460"/>
          </a:xfrm>
          <a:prstGeom prst="rect">
            <a:avLst/>
          </a:prstGeom>
        </p:spPr>
      </p:pic>
      <p:sp>
        <p:nvSpPr>
          <p:cNvPr id="17" name="Text 12"/>
          <p:cNvSpPr/>
          <p:nvPr/>
        </p:nvSpPr>
        <p:spPr>
          <a:xfrm>
            <a:off x="9180576" y="1755648"/>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Document Upload</a:t>
            </a:r>
            <a:endParaRPr lang="en-US" sz="1150" dirty="0"/>
          </a:p>
        </p:txBody>
      </p:sp>
      <p:sp>
        <p:nvSpPr>
          <p:cNvPr id="18" name="Text 13"/>
          <p:cNvSpPr/>
          <p:nvPr/>
        </p:nvSpPr>
        <p:spPr>
          <a:xfrm>
            <a:off x="9180576" y="2203704"/>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Add and store confidential files securely.</a:t>
            </a:r>
            <a:endParaRPr lang="en-US" sz="980" dirty="0"/>
          </a:p>
        </p:txBody>
      </p:sp>
      <p:sp>
        <p:nvSpPr>
          <p:cNvPr id="19" name="Shape 14"/>
          <p:cNvSpPr/>
          <p:nvPr/>
        </p:nvSpPr>
        <p:spPr>
          <a:xfrm>
            <a:off x="548640" y="3163824"/>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0" name="Shape 15"/>
          <p:cNvSpPr/>
          <p:nvPr/>
        </p:nvSpPr>
        <p:spPr>
          <a:xfrm>
            <a:off x="731520" y="3575304"/>
            <a:ext cx="530352" cy="530352"/>
          </a:xfrm>
          <a:prstGeom prst="ellipse">
            <a:avLst/>
          </a:prstGeom>
          <a:solidFill>
            <a:srgbClr val="0B3D45"/>
          </a:solidFill>
          <a:ln/>
        </p:spPr>
        <p:txBody>
          <a:bodyPr/>
          <a:lstStyle/>
          <a:p>
            <a:endParaRPr lang="en-IN"/>
          </a:p>
        </p:txBody>
      </p:sp>
      <p:pic>
        <p:nvPicPr>
          <p:cNvPr id="21" name="Image 3" descr="/home/claude/deadmanswitch/icons/users_amber.png"/>
          <p:cNvPicPr>
            <a:picLocks noChangeAspect="1"/>
          </p:cNvPicPr>
          <p:nvPr/>
        </p:nvPicPr>
        <p:blipFill>
          <a:blip r:embed="rId6"/>
          <a:stretch>
            <a:fillRect/>
          </a:stretch>
        </p:blipFill>
        <p:spPr>
          <a:xfrm>
            <a:off x="800466" y="3644250"/>
            <a:ext cx="392460" cy="392460"/>
          </a:xfrm>
          <a:prstGeom prst="rect">
            <a:avLst/>
          </a:prstGeom>
        </p:spPr>
      </p:pic>
      <p:sp>
        <p:nvSpPr>
          <p:cNvPr id="22" name="Text 16"/>
          <p:cNvSpPr/>
          <p:nvPr/>
        </p:nvSpPr>
        <p:spPr>
          <a:xfrm>
            <a:off x="1389888" y="3291840"/>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Nominee Management</a:t>
            </a:r>
            <a:endParaRPr lang="en-US" sz="1150" dirty="0"/>
          </a:p>
        </p:txBody>
      </p:sp>
      <p:sp>
        <p:nvSpPr>
          <p:cNvPr id="23" name="Text 17"/>
          <p:cNvSpPr/>
          <p:nvPr/>
        </p:nvSpPr>
        <p:spPr>
          <a:xfrm>
            <a:off x="1389888" y="3739896"/>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Add and manage trusted emergency contacts.</a:t>
            </a:r>
            <a:endParaRPr lang="en-US" sz="980" dirty="0"/>
          </a:p>
        </p:txBody>
      </p:sp>
      <p:sp>
        <p:nvSpPr>
          <p:cNvPr id="24" name="Shape 18"/>
          <p:cNvSpPr/>
          <p:nvPr/>
        </p:nvSpPr>
        <p:spPr>
          <a:xfrm>
            <a:off x="4443984" y="3163824"/>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19"/>
          <p:cNvSpPr/>
          <p:nvPr/>
        </p:nvSpPr>
        <p:spPr>
          <a:xfrm>
            <a:off x="4626864" y="3575304"/>
            <a:ext cx="530352" cy="530352"/>
          </a:xfrm>
          <a:prstGeom prst="ellipse">
            <a:avLst/>
          </a:prstGeom>
          <a:solidFill>
            <a:srgbClr val="0B3D45"/>
          </a:solidFill>
          <a:ln/>
        </p:spPr>
        <p:txBody>
          <a:bodyPr/>
          <a:lstStyle/>
          <a:p>
            <a:endParaRPr lang="en-IN"/>
          </a:p>
        </p:txBody>
      </p:sp>
      <p:pic>
        <p:nvPicPr>
          <p:cNvPr id="26" name="Image 4" descr="/home/claude/deadmanswitch/icons/eye_amber.png"/>
          <p:cNvPicPr>
            <a:picLocks noChangeAspect="1"/>
          </p:cNvPicPr>
          <p:nvPr/>
        </p:nvPicPr>
        <p:blipFill>
          <a:blip r:embed="rId7"/>
          <a:stretch>
            <a:fillRect/>
          </a:stretch>
        </p:blipFill>
        <p:spPr>
          <a:xfrm>
            <a:off x="4695810" y="3644250"/>
            <a:ext cx="392460" cy="392460"/>
          </a:xfrm>
          <a:prstGeom prst="rect">
            <a:avLst/>
          </a:prstGeom>
        </p:spPr>
      </p:pic>
      <p:sp>
        <p:nvSpPr>
          <p:cNvPr id="27" name="Text 20"/>
          <p:cNvSpPr/>
          <p:nvPr/>
        </p:nvSpPr>
        <p:spPr>
          <a:xfrm>
            <a:off x="5285232" y="3291840"/>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Activity Monitoring</a:t>
            </a:r>
            <a:endParaRPr lang="en-US" sz="1150" dirty="0"/>
          </a:p>
        </p:txBody>
      </p:sp>
      <p:sp>
        <p:nvSpPr>
          <p:cNvPr id="28" name="Text 21"/>
          <p:cNvSpPr/>
          <p:nvPr/>
        </p:nvSpPr>
        <p:spPr>
          <a:xfrm>
            <a:off x="5285232" y="3739896"/>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Tracks login and usage patterns automatically.</a:t>
            </a:r>
            <a:endParaRPr lang="en-US" sz="980" dirty="0"/>
          </a:p>
        </p:txBody>
      </p:sp>
      <p:sp>
        <p:nvSpPr>
          <p:cNvPr id="29" name="Shape 22"/>
          <p:cNvSpPr/>
          <p:nvPr/>
        </p:nvSpPr>
        <p:spPr>
          <a:xfrm>
            <a:off x="8339328" y="3163824"/>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30" name="Shape 23"/>
          <p:cNvSpPr/>
          <p:nvPr/>
        </p:nvSpPr>
        <p:spPr>
          <a:xfrm>
            <a:off x="8522208" y="3575304"/>
            <a:ext cx="530352" cy="530352"/>
          </a:xfrm>
          <a:prstGeom prst="ellipse">
            <a:avLst/>
          </a:prstGeom>
          <a:solidFill>
            <a:srgbClr val="0B3D45"/>
          </a:solidFill>
          <a:ln/>
        </p:spPr>
        <p:txBody>
          <a:bodyPr/>
          <a:lstStyle/>
          <a:p>
            <a:endParaRPr lang="en-IN"/>
          </a:p>
        </p:txBody>
      </p:sp>
      <p:pic>
        <p:nvPicPr>
          <p:cNvPr id="31" name="Image 5" descr="/home/claude/deadmanswitch/icons/bell_amber.png"/>
          <p:cNvPicPr>
            <a:picLocks noChangeAspect="1"/>
          </p:cNvPicPr>
          <p:nvPr/>
        </p:nvPicPr>
        <p:blipFill>
          <a:blip r:embed="rId8"/>
          <a:stretch>
            <a:fillRect/>
          </a:stretch>
        </p:blipFill>
        <p:spPr>
          <a:xfrm>
            <a:off x="8591154" y="3644250"/>
            <a:ext cx="392460" cy="392460"/>
          </a:xfrm>
          <a:prstGeom prst="rect">
            <a:avLst/>
          </a:prstGeom>
        </p:spPr>
      </p:pic>
      <p:sp>
        <p:nvSpPr>
          <p:cNvPr id="32" name="Text 24"/>
          <p:cNvSpPr/>
          <p:nvPr/>
        </p:nvSpPr>
        <p:spPr>
          <a:xfrm>
            <a:off x="9180576" y="3291840"/>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Reminder Notification</a:t>
            </a:r>
            <a:endParaRPr lang="en-US" sz="1150" dirty="0"/>
          </a:p>
        </p:txBody>
      </p:sp>
      <p:sp>
        <p:nvSpPr>
          <p:cNvPr id="33" name="Text 25"/>
          <p:cNvSpPr/>
          <p:nvPr/>
        </p:nvSpPr>
        <p:spPr>
          <a:xfrm>
            <a:off x="9180576" y="3739896"/>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Sends periodic email alerts to confirm activity.</a:t>
            </a:r>
            <a:endParaRPr lang="en-US" sz="980" dirty="0"/>
          </a:p>
        </p:txBody>
      </p:sp>
      <p:sp>
        <p:nvSpPr>
          <p:cNvPr id="34" name="Shape 26"/>
          <p:cNvSpPr/>
          <p:nvPr/>
        </p:nvSpPr>
        <p:spPr>
          <a:xfrm>
            <a:off x="548640" y="4700016"/>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35" name="Shape 27"/>
          <p:cNvSpPr/>
          <p:nvPr/>
        </p:nvSpPr>
        <p:spPr>
          <a:xfrm>
            <a:off x="731520" y="5111496"/>
            <a:ext cx="530352" cy="530352"/>
          </a:xfrm>
          <a:prstGeom prst="ellipse">
            <a:avLst/>
          </a:prstGeom>
          <a:solidFill>
            <a:srgbClr val="0B3D45"/>
          </a:solidFill>
          <a:ln/>
        </p:spPr>
        <p:txBody>
          <a:bodyPr/>
          <a:lstStyle/>
          <a:p>
            <a:endParaRPr lang="en-IN"/>
          </a:p>
        </p:txBody>
      </p:sp>
      <p:pic>
        <p:nvPicPr>
          <p:cNvPr id="36" name="Image 6" descr="/home/claude/deadmanswitch/icons/bolt_amber.png"/>
          <p:cNvPicPr>
            <a:picLocks noChangeAspect="1"/>
          </p:cNvPicPr>
          <p:nvPr/>
        </p:nvPicPr>
        <p:blipFill>
          <a:blip r:embed="rId9"/>
          <a:stretch>
            <a:fillRect/>
          </a:stretch>
        </p:blipFill>
        <p:spPr>
          <a:xfrm>
            <a:off x="800466" y="5180442"/>
            <a:ext cx="392460" cy="392460"/>
          </a:xfrm>
          <a:prstGeom prst="rect">
            <a:avLst/>
          </a:prstGeom>
        </p:spPr>
      </p:pic>
      <p:sp>
        <p:nvSpPr>
          <p:cNvPr id="37" name="Text 28"/>
          <p:cNvSpPr/>
          <p:nvPr/>
        </p:nvSpPr>
        <p:spPr>
          <a:xfrm>
            <a:off x="1389888" y="4828032"/>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Dead-Man Trigger Engine</a:t>
            </a:r>
            <a:endParaRPr lang="en-US" sz="1150" dirty="0"/>
          </a:p>
        </p:txBody>
      </p:sp>
      <p:sp>
        <p:nvSpPr>
          <p:cNvPr id="38" name="Text 29"/>
          <p:cNvSpPr/>
          <p:nvPr/>
        </p:nvSpPr>
        <p:spPr>
          <a:xfrm>
            <a:off x="1389888" y="5276088"/>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Detects prolonged inactivity and initiate release.</a:t>
            </a:r>
            <a:endParaRPr lang="en-US" sz="980" dirty="0"/>
          </a:p>
        </p:txBody>
      </p:sp>
      <p:sp>
        <p:nvSpPr>
          <p:cNvPr id="39" name="Shape 30"/>
          <p:cNvSpPr/>
          <p:nvPr/>
        </p:nvSpPr>
        <p:spPr>
          <a:xfrm>
            <a:off x="4443984" y="4700016"/>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40" name="Shape 31"/>
          <p:cNvSpPr/>
          <p:nvPr/>
        </p:nvSpPr>
        <p:spPr>
          <a:xfrm>
            <a:off x="4626864" y="5111496"/>
            <a:ext cx="530352" cy="530352"/>
          </a:xfrm>
          <a:prstGeom prst="ellipse">
            <a:avLst/>
          </a:prstGeom>
          <a:solidFill>
            <a:srgbClr val="0B3D45"/>
          </a:solidFill>
          <a:ln/>
        </p:spPr>
        <p:txBody>
          <a:bodyPr/>
          <a:lstStyle/>
          <a:p>
            <a:endParaRPr lang="en-IN"/>
          </a:p>
        </p:txBody>
      </p:sp>
      <p:pic>
        <p:nvPicPr>
          <p:cNvPr id="41" name="Image 7" descr="/home/claude/deadmanswitch/icons/paperplane_amber.png"/>
          <p:cNvPicPr>
            <a:picLocks noChangeAspect="1"/>
          </p:cNvPicPr>
          <p:nvPr/>
        </p:nvPicPr>
        <p:blipFill>
          <a:blip r:embed="rId10"/>
          <a:stretch>
            <a:fillRect/>
          </a:stretch>
        </p:blipFill>
        <p:spPr>
          <a:xfrm>
            <a:off x="4695810" y="5180442"/>
            <a:ext cx="392460" cy="392460"/>
          </a:xfrm>
          <a:prstGeom prst="rect">
            <a:avLst/>
          </a:prstGeom>
        </p:spPr>
      </p:pic>
      <p:sp>
        <p:nvSpPr>
          <p:cNvPr id="42" name="Text 32"/>
          <p:cNvSpPr/>
          <p:nvPr/>
        </p:nvSpPr>
        <p:spPr>
          <a:xfrm>
            <a:off x="5285232" y="4828032"/>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Emergency Vault Release</a:t>
            </a:r>
            <a:endParaRPr lang="en-US" sz="1150" dirty="0"/>
          </a:p>
        </p:txBody>
      </p:sp>
      <p:sp>
        <p:nvSpPr>
          <p:cNvPr id="43" name="Text 33"/>
          <p:cNvSpPr/>
          <p:nvPr/>
        </p:nvSpPr>
        <p:spPr>
          <a:xfrm>
            <a:off x="5285232" y="5276088"/>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Shares vault contents with nominees securely.</a:t>
            </a:r>
            <a:endParaRPr lang="en-US" sz="980" dirty="0"/>
          </a:p>
        </p:txBody>
      </p:sp>
      <p:sp>
        <p:nvSpPr>
          <p:cNvPr id="44" name="Shape 34"/>
          <p:cNvSpPr/>
          <p:nvPr/>
        </p:nvSpPr>
        <p:spPr>
          <a:xfrm>
            <a:off x="8339328" y="4700016"/>
            <a:ext cx="3639312" cy="1353312"/>
          </a:xfrm>
          <a:prstGeom prst="roundRect">
            <a:avLst>
              <a:gd name="adj" fmla="val 8108"/>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45" name="Shape 35"/>
          <p:cNvSpPr/>
          <p:nvPr/>
        </p:nvSpPr>
        <p:spPr>
          <a:xfrm>
            <a:off x="8522208" y="5111496"/>
            <a:ext cx="530352" cy="530352"/>
          </a:xfrm>
          <a:prstGeom prst="ellipse">
            <a:avLst/>
          </a:prstGeom>
          <a:solidFill>
            <a:srgbClr val="0B3D45"/>
          </a:solidFill>
          <a:ln/>
        </p:spPr>
        <p:txBody>
          <a:bodyPr/>
          <a:lstStyle/>
          <a:p>
            <a:endParaRPr lang="en-IN"/>
          </a:p>
        </p:txBody>
      </p:sp>
      <p:pic>
        <p:nvPicPr>
          <p:cNvPr id="46" name="Image 8" descr="/home/claude/deadmanswitch/icons/dashboard_amber.png"/>
          <p:cNvPicPr>
            <a:picLocks noChangeAspect="1"/>
          </p:cNvPicPr>
          <p:nvPr/>
        </p:nvPicPr>
        <p:blipFill>
          <a:blip r:embed="rId11"/>
          <a:stretch>
            <a:fillRect/>
          </a:stretch>
        </p:blipFill>
        <p:spPr>
          <a:xfrm>
            <a:off x="8591154" y="5180442"/>
            <a:ext cx="392460" cy="392460"/>
          </a:xfrm>
          <a:prstGeom prst="rect">
            <a:avLst/>
          </a:prstGeom>
        </p:spPr>
      </p:pic>
      <p:sp>
        <p:nvSpPr>
          <p:cNvPr id="47" name="Text 36"/>
          <p:cNvSpPr/>
          <p:nvPr/>
        </p:nvSpPr>
        <p:spPr>
          <a:xfrm>
            <a:off x="9180576" y="4828032"/>
            <a:ext cx="2633472" cy="457200"/>
          </a:xfrm>
          <a:prstGeom prst="rect">
            <a:avLst/>
          </a:prstGeom>
          <a:noFill/>
          <a:ln/>
        </p:spPr>
        <p:txBody>
          <a:bodyPr wrap="square" lIns="0" tIns="0" rIns="0" bIns="0" rtlCol="0" anchor="t"/>
          <a:lstStyle/>
          <a:p>
            <a:pPr marL="0" indent="0">
              <a:lnSpc>
                <a:spcPct val="102000"/>
              </a:lnSpc>
              <a:buNone/>
            </a:pPr>
            <a:r>
              <a:rPr lang="en-US" sz="1150" b="1" dirty="0">
                <a:solidFill>
                  <a:srgbClr val="0B3D45"/>
                </a:solidFill>
                <a:latin typeface="Cambria" pitchFamily="34" charset="0"/>
                <a:ea typeface="Cambria" pitchFamily="34" charset="-122"/>
                <a:cs typeface="Cambria" pitchFamily="34" charset="-120"/>
              </a:rPr>
              <a:t>Admin Dashboard</a:t>
            </a:r>
            <a:endParaRPr lang="en-US" sz="1150" dirty="0"/>
          </a:p>
        </p:txBody>
      </p:sp>
      <p:sp>
        <p:nvSpPr>
          <p:cNvPr id="48" name="Text 37"/>
          <p:cNvSpPr/>
          <p:nvPr/>
        </p:nvSpPr>
        <p:spPr>
          <a:xfrm>
            <a:off x="9180576" y="5276088"/>
            <a:ext cx="2633472" cy="685800"/>
          </a:xfrm>
          <a:prstGeom prst="rect">
            <a:avLst/>
          </a:prstGeom>
          <a:noFill/>
          <a:ln/>
        </p:spPr>
        <p:txBody>
          <a:bodyPr wrap="square" lIns="0" tIns="0" rIns="0" bIns="0" rtlCol="0" anchor="t"/>
          <a:lstStyle/>
          <a:p>
            <a:pPr marL="0" indent="0">
              <a:lnSpc>
                <a:spcPct val="112000"/>
              </a:lnSpc>
              <a:buNone/>
            </a:pPr>
            <a:r>
              <a:rPr lang="en-US" sz="980" dirty="0">
                <a:solidFill>
                  <a:srgbClr val="5B7480"/>
                </a:solidFill>
                <a:latin typeface="Calibri" pitchFamily="34" charset="0"/>
                <a:ea typeface="Calibri" pitchFamily="34" charset="-122"/>
                <a:cs typeface="Calibri" pitchFamily="34" charset="-120"/>
              </a:rPr>
              <a:t>Monitors users, logs, and system performance.</a:t>
            </a:r>
            <a:endParaRPr lang="en-US" sz="980" dirty="0"/>
          </a:p>
        </p:txBody>
      </p:sp>
      <p:sp>
        <p:nvSpPr>
          <p:cNvPr id="49" name="Text 38"/>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50" name="Text 39"/>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PROCESS FLOW</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System Workflow</a:t>
            </a:r>
            <a:endParaRPr lang="en-US" sz="3000" dirty="0"/>
          </a:p>
        </p:txBody>
      </p:sp>
      <p:sp>
        <p:nvSpPr>
          <p:cNvPr id="4" name="Shape 2"/>
          <p:cNvSpPr/>
          <p:nvPr/>
        </p:nvSpPr>
        <p:spPr>
          <a:xfrm>
            <a:off x="548640"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Text 3"/>
          <p:cNvSpPr/>
          <p:nvPr/>
        </p:nvSpPr>
        <p:spPr>
          <a:xfrm>
            <a:off x="621792"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User Registration</a:t>
            </a:r>
            <a:endParaRPr lang="en-US" sz="1050" dirty="0"/>
          </a:p>
        </p:txBody>
      </p:sp>
      <p:sp>
        <p:nvSpPr>
          <p:cNvPr id="6" name="Shape 4"/>
          <p:cNvSpPr/>
          <p:nvPr/>
        </p:nvSpPr>
        <p:spPr>
          <a:xfrm>
            <a:off x="2286000" y="1819656"/>
            <a:ext cx="109728" cy="128016"/>
          </a:xfrm>
          <a:prstGeom prst="rightArrow">
            <a:avLst/>
          </a:prstGeom>
          <a:solidFill>
            <a:srgbClr val="14919B"/>
          </a:solidFill>
          <a:ln/>
        </p:spPr>
        <p:txBody>
          <a:bodyPr/>
          <a:lstStyle/>
          <a:p>
            <a:endParaRPr lang="en-IN"/>
          </a:p>
        </p:txBody>
      </p:sp>
      <p:sp>
        <p:nvSpPr>
          <p:cNvPr id="7" name="Shape 5"/>
          <p:cNvSpPr/>
          <p:nvPr/>
        </p:nvSpPr>
        <p:spPr>
          <a:xfrm>
            <a:off x="2414016"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8" name="Text 6"/>
          <p:cNvSpPr/>
          <p:nvPr/>
        </p:nvSpPr>
        <p:spPr>
          <a:xfrm>
            <a:off x="2487168"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Login</a:t>
            </a:r>
            <a:endParaRPr lang="en-US" sz="1050" dirty="0"/>
          </a:p>
        </p:txBody>
      </p:sp>
      <p:sp>
        <p:nvSpPr>
          <p:cNvPr id="9" name="Shape 7"/>
          <p:cNvSpPr/>
          <p:nvPr/>
        </p:nvSpPr>
        <p:spPr>
          <a:xfrm>
            <a:off x="4151376" y="1819656"/>
            <a:ext cx="109728" cy="128016"/>
          </a:xfrm>
          <a:prstGeom prst="rightArrow">
            <a:avLst/>
          </a:prstGeom>
          <a:solidFill>
            <a:srgbClr val="14919B"/>
          </a:solidFill>
          <a:ln/>
        </p:spPr>
        <p:txBody>
          <a:bodyPr/>
          <a:lstStyle/>
          <a:p>
            <a:endParaRPr lang="en-IN"/>
          </a:p>
        </p:txBody>
      </p:sp>
      <p:sp>
        <p:nvSpPr>
          <p:cNvPr id="10" name="Shape 8"/>
          <p:cNvSpPr/>
          <p:nvPr/>
        </p:nvSpPr>
        <p:spPr>
          <a:xfrm>
            <a:off x="4279392"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1" name="Text 9"/>
          <p:cNvSpPr/>
          <p:nvPr/>
        </p:nvSpPr>
        <p:spPr>
          <a:xfrm>
            <a:off x="4352544"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Store Documents</a:t>
            </a:r>
            <a:endParaRPr lang="en-US" sz="1050" dirty="0"/>
          </a:p>
        </p:txBody>
      </p:sp>
      <p:sp>
        <p:nvSpPr>
          <p:cNvPr id="12" name="Shape 10"/>
          <p:cNvSpPr/>
          <p:nvPr/>
        </p:nvSpPr>
        <p:spPr>
          <a:xfrm>
            <a:off x="6016752" y="1819656"/>
            <a:ext cx="109728" cy="128016"/>
          </a:xfrm>
          <a:prstGeom prst="rightArrow">
            <a:avLst/>
          </a:prstGeom>
          <a:solidFill>
            <a:srgbClr val="14919B"/>
          </a:solidFill>
          <a:ln/>
        </p:spPr>
        <p:txBody>
          <a:bodyPr/>
          <a:lstStyle/>
          <a:p>
            <a:endParaRPr lang="en-IN"/>
          </a:p>
        </p:txBody>
      </p:sp>
      <p:sp>
        <p:nvSpPr>
          <p:cNvPr id="13" name="Shape 11"/>
          <p:cNvSpPr/>
          <p:nvPr/>
        </p:nvSpPr>
        <p:spPr>
          <a:xfrm>
            <a:off x="6144768"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4" name="Text 12"/>
          <p:cNvSpPr/>
          <p:nvPr/>
        </p:nvSpPr>
        <p:spPr>
          <a:xfrm>
            <a:off x="6217920"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Add Nominees</a:t>
            </a:r>
            <a:endParaRPr lang="en-US" sz="1050" dirty="0"/>
          </a:p>
        </p:txBody>
      </p:sp>
      <p:sp>
        <p:nvSpPr>
          <p:cNvPr id="15" name="Shape 13"/>
          <p:cNvSpPr/>
          <p:nvPr/>
        </p:nvSpPr>
        <p:spPr>
          <a:xfrm>
            <a:off x="7882128" y="1819656"/>
            <a:ext cx="109728" cy="128016"/>
          </a:xfrm>
          <a:prstGeom prst="rightArrow">
            <a:avLst/>
          </a:prstGeom>
          <a:solidFill>
            <a:srgbClr val="14919B"/>
          </a:solidFill>
          <a:ln/>
        </p:spPr>
        <p:txBody>
          <a:bodyPr/>
          <a:lstStyle/>
          <a:p>
            <a:endParaRPr lang="en-IN"/>
          </a:p>
        </p:txBody>
      </p:sp>
      <p:sp>
        <p:nvSpPr>
          <p:cNvPr id="16" name="Shape 14"/>
          <p:cNvSpPr/>
          <p:nvPr/>
        </p:nvSpPr>
        <p:spPr>
          <a:xfrm>
            <a:off x="8010144"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7" name="Text 15"/>
          <p:cNvSpPr/>
          <p:nvPr/>
        </p:nvSpPr>
        <p:spPr>
          <a:xfrm>
            <a:off x="8083296"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System Tracks Activity</a:t>
            </a:r>
            <a:endParaRPr lang="en-US" sz="1050" dirty="0"/>
          </a:p>
        </p:txBody>
      </p:sp>
      <p:sp>
        <p:nvSpPr>
          <p:cNvPr id="18" name="Shape 16"/>
          <p:cNvSpPr/>
          <p:nvPr/>
        </p:nvSpPr>
        <p:spPr>
          <a:xfrm>
            <a:off x="9747504" y="1819656"/>
            <a:ext cx="109728" cy="128016"/>
          </a:xfrm>
          <a:prstGeom prst="rightArrow">
            <a:avLst/>
          </a:prstGeom>
          <a:solidFill>
            <a:srgbClr val="14919B"/>
          </a:solidFill>
          <a:ln/>
        </p:spPr>
        <p:txBody>
          <a:bodyPr/>
          <a:lstStyle/>
          <a:p>
            <a:endParaRPr lang="en-IN"/>
          </a:p>
        </p:txBody>
      </p:sp>
      <p:sp>
        <p:nvSpPr>
          <p:cNvPr id="19" name="Shape 17"/>
          <p:cNvSpPr/>
          <p:nvPr/>
        </p:nvSpPr>
        <p:spPr>
          <a:xfrm>
            <a:off x="9875520" y="1572768"/>
            <a:ext cx="1719072" cy="621792"/>
          </a:xfrm>
          <a:prstGeom prst="roundRect">
            <a:avLst>
              <a:gd name="adj" fmla="val 14706"/>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0" name="Text 18"/>
          <p:cNvSpPr/>
          <p:nvPr/>
        </p:nvSpPr>
        <p:spPr>
          <a:xfrm>
            <a:off x="9948672" y="1572768"/>
            <a:ext cx="1572768" cy="621792"/>
          </a:xfrm>
          <a:prstGeom prst="rect">
            <a:avLst/>
          </a:prstGeom>
          <a:noFill/>
          <a:ln/>
        </p:spPr>
        <p:txBody>
          <a:bodyPr wrap="square" lIns="0" tIns="0" rIns="0" bIns="0" rtlCol="0" anchor="ctr"/>
          <a:lstStyle/>
          <a:p>
            <a:pPr marL="0" indent="0" algn="ctr">
              <a:lnSpc>
                <a:spcPct val="100000"/>
              </a:lnSpc>
              <a:buNone/>
            </a:pPr>
            <a:r>
              <a:rPr lang="en-US" sz="1050" b="1" dirty="0">
                <a:solidFill>
                  <a:srgbClr val="0B3D45"/>
                </a:solidFill>
                <a:latin typeface="Calibri" pitchFamily="34" charset="0"/>
                <a:ea typeface="Calibri" pitchFamily="34" charset="-122"/>
                <a:cs typeface="Calibri" pitchFamily="34" charset="-120"/>
              </a:rPr>
              <a:t>Reminder Emails</a:t>
            </a:r>
            <a:endParaRPr lang="en-US" sz="1050" dirty="0"/>
          </a:p>
        </p:txBody>
      </p:sp>
      <p:sp>
        <p:nvSpPr>
          <p:cNvPr id="21" name="Shape 19"/>
          <p:cNvSpPr/>
          <p:nvPr/>
        </p:nvSpPr>
        <p:spPr>
          <a:xfrm>
            <a:off x="6012180" y="2249424"/>
            <a:ext cx="164592" cy="292608"/>
          </a:xfrm>
          <a:prstGeom prst="downArrow">
            <a:avLst/>
          </a:prstGeom>
          <a:solidFill>
            <a:srgbClr val="0B3D45"/>
          </a:solidFill>
          <a:ln/>
        </p:spPr>
        <p:txBody>
          <a:bodyPr/>
          <a:lstStyle/>
          <a:p>
            <a:endParaRPr lang="en-IN"/>
          </a:p>
        </p:txBody>
      </p:sp>
      <p:sp>
        <p:nvSpPr>
          <p:cNvPr id="22" name="Shape 20"/>
          <p:cNvSpPr/>
          <p:nvPr/>
        </p:nvSpPr>
        <p:spPr>
          <a:xfrm>
            <a:off x="2651760" y="2651760"/>
            <a:ext cx="6885432" cy="566928"/>
          </a:xfrm>
          <a:prstGeom prst="roundRect">
            <a:avLst>
              <a:gd name="adj" fmla="val 50000"/>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23" name="Shape 21"/>
          <p:cNvSpPr/>
          <p:nvPr/>
        </p:nvSpPr>
        <p:spPr>
          <a:xfrm>
            <a:off x="2816352" y="2596896"/>
            <a:ext cx="676656" cy="676656"/>
          </a:xfrm>
          <a:prstGeom prst="ellipse">
            <a:avLst/>
          </a:prstGeom>
          <a:solidFill>
            <a:srgbClr val="F4A300"/>
          </a:solidFill>
          <a:ln/>
        </p:spPr>
        <p:txBody>
          <a:bodyPr/>
          <a:lstStyle/>
          <a:p>
            <a:endParaRPr lang="en-IN"/>
          </a:p>
        </p:txBody>
      </p:sp>
      <p:pic>
        <p:nvPicPr>
          <p:cNvPr id="24" name="Image 0" descr="/home/claude/deadmanswitch/icons/question_white.png"/>
          <p:cNvPicPr>
            <a:picLocks noChangeAspect="1"/>
          </p:cNvPicPr>
          <p:nvPr/>
        </p:nvPicPr>
        <p:blipFill>
          <a:blip r:embed="rId3"/>
          <a:stretch>
            <a:fillRect/>
          </a:stretch>
        </p:blipFill>
        <p:spPr>
          <a:xfrm>
            <a:off x="2904317" y="2684861"/>
            <a:ext cx="500725" cy="500725"/>
          </a:xfrm>
          <a:prstGeom prst="rect">
            <a:avLst/>
          </a:prstGeom>
        </p:spPr>
      </p:pic>
      <p:sp>
        <p:nvSpPr>
          <p:cNvPr id="25" name="Text 22"/>
          <p:cNvSpPr/>
          <p:nvPr/>
        </p:nvSpPr>
        <p:spPr>
          <a:xfrm>
            <a:off x="3611880" y="2651760"/>
            <a:ext cx="5760720" cy="56692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Does the user respond after the reminder?</a:t>
            </a:r>
            <a:endParaRPr lang="en-US" sz="1450" dirty="0"/>
          </a:p>
        </p:txBody>
      </p:sp>
      <p:sp>
        <p:nvSpPr>
          <p:cNvPr id="26" name="Shape 23"/>
          <p:cNvSpPr/>
          <p:nvPr/>
        </p:nvSpPr>
        <p:spPr>
          <a:xfrm>
            <a:off x="548640" y="3566160"/>
            <a:ext cx="5422392" cy="2148840"/>
          </a:xfrm>
          <a:prstGeom prst="roundRect">
            <a:avLst>
              <a:gd name="adj" fmla="val 5957"/>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7" name="Shape 24"/>
          <p:cNvSpPr/>
          <p:nvPr/>
        </p:nvSpPr>
        <p:spPr>
          <a:xfrm>
            <a:off x="548640" y="3566160"/>
            <a:ext cx="5422392" cy="548640"/>
          </a:xfrm>
          <a:prstGeom prst="roundRect">
            <a:avLst>
              <a:gd name="adj" fmla="val 23333"/>
            </a:avLst>
          </a:prstGeom>
          <a:solidFill>
            <a:srgbClr val="14919B"/>
          </a:solidFill>
          <a:ln/>
        </p:spPr>
        <p:txBody>
          <a:bodyPr/>
          <a:lstStyle/>
          <a:p>
            <a:endParaRPr lang="en-IN"/>
          </a:p>
        </p:txBody>
      </p:sp>
      <p:sp>
        <p:nvSpPr>
          <p:cNvPr id="28" name="Shape 25"/>
          <p:cNvSpPr/>
          <p:nvPr/>
        </p:nvSpPr>
        <p:spPr>
          <a:xfrm>
            <a:off x="548640" y="3840480"/>
            <a:ext cx="5422392" cy="274320"/>
          </a:xfrm>
          <a:prstGeom prst="rect">
            <a:avLst/>
          </a:prstGeom>
          <a:solidFill>
            <a:srgbClr val="14919B"/>
          </a:solidFill>
          <a:ln/>
        </p:spPr>
        <p:txBody>
          <a:bodyPr/>
          <a:lstStyle/>
          <a:p>
            <a:endParaRPr lang="en-IN"/>
          </a:p>
        </p:txBody>
      </p:sp>
      <p:sp>
        <p:nvSpPr>
          <p:cNvPr id="29" name="Shape 26"/>
          <p:cNvSpPr/>
          <p:nvPr/>
        </p:nvSpPr>
        <p:spPr>
          <a:xfrm>
            <a:off x="713232" y="3639312"/>
            <a:ext cx="402336" cy="402336"/>
          </a:xfrm>
          <a:prstGeom prst="ellipse">
            <a:avLst/>
          </a:prstGeom>
          <a:solidFill>
            <a:srgbClr val="FFFFFF"/>
          </a:solidFill>
          <a:ln/>
        </p:spPr>
        <p:txBody>
          <a:bodyPr/>
          <a:lstStyle/>
          <a:p>
            <a:endParaRPr lang="en-IN"/>
          </a:p>
        </p:txBody>
      </p:sp>
      <p:pic>
        <p:nvPicPr>
          <p:cNvPr id="30" name="Image 1" descr="/home/claude/deadmanswitch/icons/checkcircle_cyan.png"/>
          <p:cNvPicPr>
            <a:picLocks noChangeAspect="1"/>
          </p:cNvPicPr>
          <p:nvPr/>
        </p:nvPicPr>
        <p:blipFill>
          <a:blip r:embed="rId4"/>
          <a:stretch>
            <a:fillRect/>
          </a:stretch>
        </p:blipFill>
        <p:spPr>
          <a:xfrm>
            <a:off x="765536" y="3691616"/>
            <a:ext cx="297729" cy="297729"/>
          </a:xfrm>
          <a:prstGeom prst="rect">
            <a:avLst/>
          </a:prstGeom>
        </p:spPr>
      </p:pic>
      <p:sp>
        <p:nvSpPr>
          <p:cNvPr id="31" name="Text 27"/>
          <p:cNvSpPr/>
          <p:nvPr/>
        </p:nvSpPr>
        <p:spPr>
          <a:xfrm>
            <a:off x="1234440" y="3566160"/>
            <a:ext cx="4507992"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YES — User Responds</a:t>
            </a:r>
            <a:endParaRPr lang="en-US" sz="1500" dirty="0"/>
          </a:p>
        </p:txBody>
      </p:sp>
      <p:sp>
        <p:nvSpPr>
          <p:cNvPr id="32" name="Shape 28"/>
          <p:cNvSpPr/>
          <p:nvPr/>
        </p:nvSpPr>
        <p:spPr>
          <a:xfrm>
            <a:off x="822960" y="4434840"/>
            <a:ext cx="685800" cy="685800"/>
          </a:xfrm>
          <a:prstGeom prst="ellipse">
            <a:avLst/>
          </a:prstGeom>
          <a:solidFill>
            <a:srgbClr val="0B3D45"/>
          </a:solidFill>
          <a:ln/>
        </p:spPr>
        <p:txBody>
          <a:bodyPr/>
          <a:lstStyle/>
          <a:p>
            <a:endParaRPr lang="en-IN"/>
          </a:p>
        </p:txBody>
      </p:sp>
      <p:pic>
        <p:nvPicPr>
          <p:cNvPr id="33" name="Image 2" descr="/home/claude/deadmanswitch/icons/clock_amber.png"/>
          <p:cNvPicPr>
            <a:picLocks noChangeAspect="1"/>
          </p:cNvPicPr>
          <p:nvPr/>
        </p:nvPicPr>
        <p:blipFill>
          <a:blip r:embed="rId5"/>
          <a:stretch>
            <a:fillRect/>
          </a:stretch>
        </p:blipFill>
        <p:spPr>
          <a:xfrm>
            <a:off x="912114" y="4523994"/>
            <a:ext cx="507492" cy="507492"/>
          </a:xfrm>
          <a:prstGeom prst="rect">
            <a:avLst/>
          </a:prstGeom>
        </p:spPr>
      </p:pic>
      <p:sp>
        <p:nvSpPr>
          <p:cNvPr id="34" name="Text 29"/>
          <p:cNvSpPr/>
          <p:nvPr/>
        </p:nvSpPr>
        <p:spPr>
          <a:xfrm>
            <a:off x="1691640" y="4343400"/>
            <a:ext cx="3959352" cy="411480"/>
          </a:xfrm>
          <a:prstGeom prst="rect">
            <a:avLst/>
          </a:prstGeom>
          <a:noFill/>
          <a:ln/>
        </p:spPr>
        <p:txBody>
          <a:bodyPr wrap="square" lIns="0" tIns="0" rIns="0" bIns="0" rtlCol="0" anchor="t"/>
          <a:lstStyle/>
          <a:p>
            <a:pPr marL="0" indent="0">
              <a:buNone/>
            </a:pPr>
            <a:r>
              <a:rPr lang="en-US" sz="1500" b="1" dirty="0">
                <a:solidFill>
                  <a:srgbClr val="0B3D45"/>
                </a:solidFill>
                <a:latin typeface="Cambria" pitchFamily="34" charset="0"/>
                <a:ea typeface="Cambria" pitchFamily="34" charset="-122"/>
                <a:cs typeface="Cambria" pitchFamily="34" charset="-120"/>
              </a:rPr>
              <a:t>Reset Timer</a:t>
            </a:r>
            <a:endParaRPr lang="en-US" sz="1500" dirty="0"/>
          </a:p>
        </p:txBody>
      </p:sp>
      <p:sp>
        <p:nvSpPr>
          <p:cNvPr id="35" name="Text 30"/>
          <p:cNvSpPr/>
          <p:nvPr/>
        </p:nvSpPr>
        <p:spPr>
          <a:xfrm>
            <a:off x="1691640" y="4773168"/>
            <a:ext cx="3959352" cy="731520"/>
          </a:xfrm>
          <a:prstGeom prst="rect">
            <a:avLst/>
          </a:prstGeom>
          <a:noFill/>
          <a:ln/>
        </p:spPr>
        <p:txBody>
          <a:bodyPr wrap="square" lIns="0" tIns="0" rIns="0" bIns="0" rtlCol="0" anchor="t"/>
          <a:lstStyle/>
          <a:p>
            <a:pPr marL="0" indent="0">
              <a:lnSpc>
                <a:spcPct val="120000"/>
              </a:lnSpc>
              <a:buNone/>
            </a:pPr>
            <a:r>
              <a:rPr lang="en-US" sz="1200" dirty="0">
                <a:solidFill>
                  <a:srgbClr val="5B7480"/>
                </a:solidFill>
                <a:latin typeface="Calibri" pitchFamily="34" charset="0"/>
                <a:ea typeface="Calibri" pitchFamily="34" charset="-122"/>
                <a:cs typeface="Calibri" pitchFamily="34" charset="-120"/>
              </a:rPr>
              <a:t>The inactivity timer resets and system monitoring continues as normal.</a:t>
            </a:r>
            <a:endParaRPr lang="en-US" sz="1200" dirty="0"/>
          </a:p>
        </p:txBody>
      </p:sp>
      <p:sp>
        <p:nvSpPr>
          <p:cNvPr id="36" name="Shape 31"/>
          <p:cNvSpPr/>
          <p:nvPr/>
        </p:nvSpPr>
        <p:spPr>
          <a:xfrm>
            <a:off x="6217920" y="3566160"/>
            <a:ext cx="5422392" cy="2148840"/>
          </a:xfrm>
          <a:prstGeom prst="roundRect">
            <a:avLst>
              <a:gd name="adj" fmla="val 5957"/>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37" name="Shape 32"/>
          <p:cNvSpPr/>
          <p:nvPr/>
        </p:nvSpPr>
        <p:spPr>
          <a:xfrm>
            <a:off x="6217920" y="3566160"/>
            <a:ext cx="5422392" cy="548640"/>
          </a:xfrm>
          <a:prstGeom prst="roundRect">
            <a:avLst>
              <a:gd name="adj" fmla="val 23333"/>
            </a:avLst>
          </a:prstGeom>
          <a:solidFill>
            <a:srgbClr val="F4A300"/>
          </a:solidFill>
          <a:ln/>
        </p:spPr>
        <p:txBody>
          <a:bodyPr/>
          <a:lstStyle/>
          <a:p>
            <a:endParaRPr lang="en-IN"/>
          </a:p>
        </p:txBody>
      </p:sp>
      <p:sp>
        <p:nvSpPr>
          <p:cNvPr id="38" name="Shape 33"/>
          <p:cNvSpPr/>
          <p:nvPr/>
        </p:nvSpPr>
        <p:spPr>
          <a:xfrm>
            <a:off x="6217920" y="3840480"/>
            <a:ext cx="5422392" cy="274320"/>
          </a:xfrm>
          <a:prstGeom prst="rect">
            <a:avLst/>
          </a:prstGeom>
          <a:solidFill>
            <a:srgbClr val="F4A300"/>
          </a:solidFill>
          <a:ln/>
        </p:spPr>
        <p:txBody>
          <a:bodyPr/>
          <a:lstStyle/>
          <a:p>
            <a:endParaRPr lang="en-IN"/>
          </a:p>
        </p:txBody>
      </p:sp>
      <p:sp>
        <p:nvSpPr>
          <p:cNvPr id="39" name="Shape 34"/>
          <p:cNvSpPr/>
          <p:nvPr/>
        </p:nvSpPr>
        <p:spPr>
          <a:xfrm>
            <a:off x="6382512" y="3639312"/>
            <a:ext cx="402336" cy="402336"/>
          </a:xfrm>
          <a:prstGeom prst="ellipse">
            <a:avLst/>
          </a:prstGeom>
          <a:solidFill>
            <a:srgbClr val="FFFFFF"/>
          </a:solidFill>
          <a:ln/>
        </p:spPr>
        <p:txBody>
          <a:bodyPr/>
          <a:lstStyle/>
          <a:p>
            <a:endParaRPr lang="en-IN"/>
          </a:p>
        </p:txBody>
      </p:sp>
      <p:pic>
        <p:nvPicPr>
          <p:cNvPr id="40" name="Image 3" descr="/home/claude/deadmanswitch/icons/timescircle_amber.png"/>
          <p:cNvPicPr>
            <a:picLocks noChangeAspect="1"/>
          </p:cNvPicPr>
          <p:nvPr/>
        </p:nvPicPr>
        <p:blipFill>
          <a:blip r:embed="rId6"/>
          <a:stretch>
            <a:fillRect/>
          </a:stretch>
        </p:blipFill>
        <p:spPr>
          <a:xfrm>
            <a:off x="6434816" y="3691616"/>
            <a:ext cx="297729" cy="297729"/>
          </a:xfrm>
          <a:prstGeom prst="rect">
            <a:avLst/>
          </a:prstGeom>
        </p:spPr>
      </p:pic>
      <p:sp>
        <p:nvSpPr>
          <p:cNvPr id="41" name="Text 35"/>
          <p:cNvSpPr/>
          <p:nvPr/>
        </p:nvSpPr>
        <p:spPr>
          <a:xfrm>
            <a:off x="6903720" y="3566160"/>
            <a:ext cx="4507992" cy="548640"/>
          </a:xfrm>
          <a:prstGeom prst="rect">
            <a:avLst/>
          </a:prstGeom>
          <a:noFill/>
          <a:ln/>
        </p:spPr>
        <p:txBody>
          <a:bodyPr wrap="square" lIns="0" tIns="0" rIns="0" bIns="0" rtlCol="0" anchor="ctr"/>
          <a:lstStyle/>
          <a:p>
            <a:pPr marL="0" indent="0">
              <a:buNone/>
            </a:pPr>
            <a:r>
              <a:rPr lang="en-US" sz="1500" b="1" dirty="0">
                <a:solidFill>
                  <a:srgbClr val="0B3D45"/>
                </a:solidFill>
                <a:latin typeface="Cambria" pitchFamily="34" charset="0"/>
                <a:ea typeface="Cambria" pitchFamily="34" charset="-122"/>
                <a:cs typeface="Cambria" pitchFamily="34" charset="-120"/>
              </a:rPr>
              <a:t>NO — No Response Received</a:t>
            </a:r>
            <a:endParaRPr lang="en-US" sz="1500" dirty="0"/>
          </a:p>
        </p:txBody>
      </p:sp>
      <p:sp>
        <p:nvSpPr>
          <p:cNvPr id="42" name="Shape 36"/>
          <p:cNvSpPr/>
          <p:nvPr/>
        </p:nvSpPr>
        <p:spPr>
          <a:xfrm>
            <a:off x="6492240" y="4279392"/>
            <a:ext cx="365760" cy="365760"/>
          </a:xfrm>
          <a:prstGeom prst="ellipse">
            <a:avLst/>
          </a:prstGeom>
          <a:solidFill>
            <a:srgbClr val="13565F"/>
          </a:solidFill>
          <a:ln/>
        </p:spPr>
        <p:txBody>
          <a:bodyPr/>
          <a:lstStyle/>
          <a:p>
            <a:endParaRPr lang="en-IN"/>
          </a:p>
        </p:txBody>
      </p:sp>
      <p:pic>
        <p:nvPicPr>
          <p:cNvPr id="43" name="Image 4" descr="/home/claude/deadmanswitch/icons/bell_amber.png"/>
          <p:cNvPicPr>
            <a:picLocks noChangeAspect="1"/>
          </p:cNvPicPr>
          <p:nvPr/>
        </p:nvPicPr>
        <p:blipFill>
          <a:blip r:embed="rId7"/>
          <a:stretch>
            <a:fillRect/>
          </a:stretch>
        </p:blipFill>
        <p:spPr>
          <a:xfrm>
            <a:off x="6539789" y="4326941"/>
            <a:ext cx="270662" cy="270662"/>
          </a:xfrm>
          <a:prstGeom prst="rect">
            <a:avLst/>
          </a:prstGeom>
        </p:spPr>
      </p:pic>
      <p:sp>
        <p:nvSpPr>
          <p:cNvPr id="44" name="Text 37"/>
          <p:cNvSpPr/>
          <p:nvPr/>
        </p:nvSpPr>
        <p:spPr>
          <a:xfrm>
            <a:off x="6995160" y="4251960"/>
            <a:ext cx="4370832" cy="420624"/>
          </a:xfrm>
          <a:prstGeom prst="rect">
            <a:avLst/>
          </a:prstGeom>
          <a:noFill/>
          <a:ln/>
        </p:spPr>
        <p:txBody>
          <a:bodyPr wrap="square" lIns="0" tIns="0" rIns="0" bIns="0" rtlCol="0" anchor="ctr"/>
          <a:lstStyle/>
          <a:p>
            <a:pPr marL="0" indent="0">
              <a:buNone/>
            </a:pPr>
            <a:r>
              <a:rPr lang="en-US" sz="1200" dirty="0">
                <a:solidFill>
                  <a:srgbClr val="E8F2F1"/>
                </a:solidFill>
                <a:latin typeface="Calibri" pitchFamily="34" charset="0"/>
                <a:ea typeface="Calibri" pitchFamily="34" charset="-122"/>
                <a:cs typeface="Calibri" pitchFamily="34" charset="-120"/>
              </a:rPr>
              <a:t>Final Reminder is sent to the user.</a:t>
            </a:r>
            <a:endParaRPr lang="en-US" sz="1200" dirty="0"/>
          </a:p>
        </p:txBody>
      </p:sp>
      <p:sp>
        <p:nvSpPr>
          <p:cNvPr id="45" name="Shape 38"/>
          <p:cNvSpPr/>
          <p:nvPr/>
        </p:nvSpPr>
        <p:spPr>
          <a:xfrm>
            <a:off x="6492240" y="4754880"/>
            <a:ext cx="365760" cy="365760"/>
          </a:xfrm>
          <a:prstGeom prst="ellipse">
            <a:avLst/>
          </a:prstGeom>
          <a:solidFill>
            <a:srgbClr val="13565F"/>
          </a:solidFill>
          <a:ln/>
        </p:spPr>
        <p:txBody>
          <a:bodyPr/>
          <a:lstStyle/>
          <a:p>
            <a:endParaRPr lang="en-IN"/>
          </a:p>
        </p:txBody>
      </p:sp>
      <p:pic>
        <p:nvPicPr>
          <p:cNvPr id="46" name="Image 5" descr="/home/claude/deadmanswitch/icons/timescircle_amber.png"/>
          <p:cNvPicPr>
            <a:picLocks noChangeAspect="1"/>
          </p:cNvPicPr>
          <p:nvPr/>
        </p:nvPicPr>
        <p:blipFill>
          <a:blip r:embed="rId6"/>
          <a:stretch>
            <a:fillRect/>
          </a:stretch>
        </p:blipFill>
        <p:spPr>
          <a:xfrm>
            <a:off x="6539789" y="4802429"/>
            <a:ext cx="270662" cy="270662"/>
          </a:xfrm>
          <a:prstGeom prst="rect">
            <a:avLst/>
          </a:prstGeom>
        </p:spPr>
      </p:pic>
      <p:sp>
        <p:nvSpPr>
          <p:cNvPr id="47" name="Text 39"/>
          <p:cNvSpPr/>
          <p:nvPr/>
        </p:nvSpPr>
        <p:spPr>
          <a:xfrm>
            <a:off x="6995160" y="4727448"/>
            <a:ext cx="4370832" cy="420624"/>
          </a:xfrm>
          <a:prstGeom prst="rect">
            <a:avLst/>
          </a:prstGeom>
          <a:noFill/>
          <a:ln/>
        </p:spPr>
        <p:txBody>
          <a:bodyPr wrap="square" lIns="0" tIns="0" rIns="0" bIns="0" rtlCol="0" anchor="ctr"/>
          <a:lstStyle/>
          <a:p>
            <a:pPr marL="0" indent="0">
              <a:buNone/>
            </a:pPr>
            <a:r>
              <a:rPr lang="en-US" sz="1200" dirty="0">
                <a:solidFill>
                  <a:srgbClr val="E8F2F1"/>
                </a:solidFill>
                <a:latin typeface="Calibri" pitchFamily="34" charset="0"/>
                <a:ea typeface="Calibri" pitchFamily="34" charset="-122"/>
                <a:cs typeface="Calibri" pitchFamily="34" charset="-120"/>
              </a:rPr>
              <a:t>No response is received in time.</a:t>
            </a:r>
            <a:endParaRPr lang="en-US" sz="1200" dirty="0"/>
          </a:p>
        </p:txBody>
      </p:sp>
      <p:sp>
        <p:nvSpPr>
          <p:cNvPr id="48" name="Shape 40"/>
          <p:cNvSpPr/>
          <p:nvPr/>
        </p:nvSpPr>
        <p:spPr>
          <a:xfrm>
            <a:off x="6492240" y="5230368"/>
            <a:ext cx="365760" cy="365760"/>
          </a:xfrm>
          <a:prstGeom prst="ellipse">
            <a:avLst/>
          </a:prstGeom>
          <a:solidFill>
            <a:srgbClr val="F4A300"/>
          </a:solidFill>
          <a:ln/>
        </p:spPr>
        <p:txBody>
          <a:bodyPr/>
          <a:lstStyle/>
          <a:p>
            <a:endParaRPr lang="en-IN"/>
          </a:p>
        </p:txBody>
      </p:sp>
      <p:pic>
        <p:nvPicPr>
          <p:cNvPr id="49" name="Image 6" descr="/home/claude/deadmanswitch/icons/paperplane_teal.png"/>
          <p:cNvPicPr>
            <a:picLocks noChangeAspect="1"/>
          </p:cNvPicPr>
          <p:nvPr/>
        </p:nvPicPr>
        <p:blipFill>
          <a:blip r:embed="rId8"/>
          <a:stretch>
            <a:fillRect/>
          </a:stretch>
        </p:blipFill>
        <p:spPr>
          <a:xfrm>
            <a:off x="6539789" y="5277917"/>
            <a:ext cx="270662" cy="270662"/>
          </a:xfrm>
          <a:prstGeom prst="rect">
            <a:avLst/>
          </a:prstGeom>
        </p:spPr>
      </p:pic>
      <p:sp>
        <p:nvSpPr>
          <p:cNvPr id="50" name="Text 41"/>
          <p:cNvSpPr/>
          <p:nvPr/>
        </p:nvSpPr>
        <p:spPr>
          <a:xfrm>
            <a:off x="6995160" y="5202936"/>
            <a:ext cx="4370832" cy="420624"/>
          </a:xfrm>
          <a:prstGeom prst="rect">
            <a:avLst/>
          </a:prstGeom>
          <a:noFill/>
          <a:ln/>
        </p:spPr>
        <p:txBody>
          <a:bodyPr wrap="square" lIns="0" tIns="0" rIns="0" bIns="0" rtlCol="0" anchor="ctr"/>
          <a:lstStyle/>
          <a:p>
            <a:pPr marL="0" indent="0">
              <a:buNone/>
            </a:pPr>
            <a:r>
              <a:rPr lang="en-US" sz="1200" b="1" dirty="0">
                <a:solidFill>
                  <a:srgbClr val="F4A300"/>
                </a:solidFill>
                <a:latin typeface="Calibri" pitchFamily="34" charset="0"/>
                <a:ea typeface="Calibri" pitchFamily="34" charset="-122"/>
                <a:cs typeface="Calibri" pitchFamily="34" charset="-120"/>
              </a:rPr>
              <a:t>Secure Vault Release to nominees.</a:t>
            </a:r>
            <a:endParaRPr lang="en-US" sz="1200" dirty="0"/>
          </a:p>
        </p:txBody>
      </p:sp>
      <p:sp>
        <p:nvSpPr>
          <p:cNvPr id="51" name="Text 42"/>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52" name="Text 4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Expected Outcomes</a:t>
            </a:r>
            <a:endParaRPr lang="en-US" sz="3000" dirty="0"/>
          </a:p>
        </p:txBody>
      </p:sp>
      <p:sp>
        <p:nvSpPr>
          <p:cNvPr id="4" name="Shape 2"/>
          <p:cNvSpPr/>
          <p:nvPr/>
        </p:nvSpPr>
        <p:spPr>
          <a:xfrm>
            <a:off x="548640" y="1691640"/>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768096" y="2080260"/>
            <a:ext cx="640080" cy="640080"/>
          </a:xfrm>
          <a:prstGeom prst="ellipse">
            <a:avLst/>
          </a:prstGeom>
          <a:solidFill>
            <a:srgbClr val="0B3D45"/>
          </a:solidFill>
          <a:ln/>
        </p:spPr>
        <p:txBody>
          <a:bodyPr/>
          <a:lstStyle/>
          <a:p>
            <a:endParaRPr lang="en-IN"/>
          </a:p>
        </p:txBody>
      </p:sp>
      <p:pic>
        <p:nvPicPr>
          <p:cNvPr id="6" name="Image 0" descr="/home/claude/deadmanswitch/icons/safe_white.png"/>
          <p:cNvPicPr>
            <a:picLocks noChangeAspect="1"/>
          </p:cNvPicPr>
          <p:nvPr/>
        </p:nvPicPr>
        <p:blipFill>
          <a:blip r:embed="rId3"/>
          <a:stretch>
            <a:fillRect/>
          </a:stretch>
        </p:blipFill>
        <p:spPr>
          <a:xfrm>
            <a:off x="851306" y="2163470"/>
            <a:ext cx="473659" cy="473659"/>
          </a:xfrm>
          <a:prstGeom prst="rect">
            <a:avLst/>
          </a:prstGeom>
        </p:spPr>
      </p:pic>
      <p:sp>
        <p:nvSpPr>
          <p:cNvPr id="7" name="Text 4"/>
          <p:cNvSpPr/>
          <p:nvPr/>
        </p:nvSpPr>
        <p:spPr>
          <a:xfrm>
            <a:off x="1554480" y="1691640"/>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Securely store confidential information.</a:t>
            </a:r>
            <a:endParaRPr lang="en-US" sz="1250" dirty="0"/>
          </a:p>
        </p:txBody>
      </p:sp>
      <p:sp>
        <p:nvSpPr>
          <p:cNvPr id="8" name="Shape 5"/>
          <p:cNvSpPr/>
          <p:nvPr/>
        </p:nvSpPr>
        <p:spPr>
          <a:xfrm>
            <a:off x="4443984" y="1691640"/>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9" name="Shape 6"/>
          <p:cNvSpPr/>
          <p:nvPr/>
        </p:nvSpPr>
        <p:spPr>
          <a:xfrm>
            <a:off x="4663440" y="2080260"/>
            <a:ext cx="640080" cy="640080"/>
          </a:xfrm>
          <a:prstGeom prst="ellipse">
            <a:avLst/>
          </a:prstGeom>
          <a:solidFill>
            <a:srgbClr val="0B3D45"/>
          </a:solidFill>
          <a:ln/>
        </p:spPr>
        <p:txBody>
          <a:bodyPr/>
          <a:lstStyle/>
          <a:p>
            <a:endParaRPr lang="en-IN"/>
          </a:p>
        </p:txBody>
      </p:sp>
      <p:pic>
        <p:nvPicPr>
          <p:cNvPr id="10" name="Image 1" descr="/home/claude/deadmanswitch/icons/userlock_white.png"/>
          <p:cNvPicPr>
            <a:picLocks noChangeAspect="1"/>
          </p:cNvPicPr>
          <p:nvPr/>
        </p:nvPicPr>
        <p:blipFill>
          <a:blip r:embed="rId4"/>
          <a:stretch>
            <a:fillRect/>
          </a:stretch>
        </p:blipFill>
        <p:spPr>
          <a:xfrm>
            <a:off x="4746650" y="2163470"/>
            <a:ext cx="473659" cy="473659"/>
          </a:xfrm>
          <a:prstGeom prst="rect">
            <a:avLst/>
          </a:prstGeom>
        </p:spPr>
      </p:pic>
      <p:sp>
        <p:nvSpPr>
          <p:cNvPr id="11" name="Text 7"/>
          <p:cNvSpPr/>
          <p:nvPr/>
        </p:nvSpPr>
        <p:spPr>
          <a:xfrm>
            <a:off x="5449824" y="1691640"/>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Protect user privacy.</a:t>
            </a:r>
            <a:endParaRPr lang="en-US" sz="1250" dirty="0"/>
          </a:p>
        </p:txBody>
      </p:sp>
      <p:sp>
        <p:nvSpPr>
          <p:cNvPr id="12" name="Shape 8"/>
          <p:cNvSpPr/>
          <p:nvPr/>
        </p:nvSpPr>
        <p:spPr>
          <a:xfrm>
            <a:off x="8339328" y="1691640"/>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3" name="Shape 9"/>
          <p:cNvSpPr/>
          <p:nvPr/>
        </p:nvSpPr>
        <p:spPr>
          <a:xfrm>
            <a:off x="8558784" y="2080260"/>
            <a:ext cx="640080" cy="640080"/>
          </a:xfrm>
          <a:prstGeom prst="ellipse">
            <a:avLst/>
          </a:prstGeom>
          <a:solidFill>
            <a:srgbClr val="0B3D45"/>
          </a:solidFill>
          <a:ln/>
        </p:spPr>
        <p:txBody>
          <a:bodyPr/>
          <a:lstStyle/>
          <a:p>
            <a:endParaRPr lang="en-IN"/>
          </a:p>
        </p:txBody>
      </p:sp>
      <p:pic>
        <p:nvPicPr>
          <p:cNvPr id="14" name="Image 2" descr="/home/claude/deadmanswitch/icons/eye_white.png"/>
          <p:cNvPicPr>
            <a:picLocks noChangeAspect="1"/>
          </p:cNvPicPr>
          <p:nvPr/>
        </p:nvPicPr>
        <p:blipFill>
          <a:blip r:embed="rId5"/>
          <a:stretch>
            <a:fillRect/>
          </a:stretch>
        </p:blipFill>
        <p:spPr>
          <a:xfrm>
            <a:off x="8641994" y="2163470"/>
            <a:ext cx="473659" cy="473659"/>
          </a:xfrm>
          <a:prstGeom prst="rect">
            <a:avLst/>
          </a:prstGeom>
        </p:spPr>
      </p:pic>
      <p:sp>
        <p:nvSpPr>
          <p:cNvPr id="15" name="Text 10"/>
          <p:cNvSpPr/>
          <p:nvPr/>
        </p:nvSpPr>
        <p:spPr>
          <a:xfrm>
            <a:off x="9345168" y="1691640"/>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Automate inactivity monitoring.</a:t>
            </a:r>
            <a:endParaRPr lang="en-US" sz="1250" dirty="0"/>
          </a:p>
        </p:txBody>
      </p:sp>
      <p:sp>
        <p:nvSpPr>
          <p:cNvPr id="16" name="Shape 11"/>
          <p:cNvSpPr/>
          <p:nvPr/>
        </p:nvSpPr>
        <p:spPr>
          <a:xfrm>
            <a:off x="548640" y="3328416"/>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7" name="Shape 12"/>
          <p:cNvSpPr/>
          <p:nvPr/>
        </p:nvSpPr>
        <p:spPr>
          <a:xfrm>
            <a:off x="768096" y="3717036"/>
            <a:ext cx="640080" cy="640080"/>
          </a:xfrm>
          <a:prstGeom prst="ellipse">
            <a:avLst/>
          </a:prstGeom>
          <a:solidFill>
            <a:srgbClr val="0B3D45"/>
          </a:solidFill>
          <a:ln/>
        </p:spPr>
        <p:txBody>
          <a:bodyPr/>
          <a:lstStyle/>
          <a:p>
            <a:endParaRPr lang="en-IN"/>
          </a:p>
        </p:txBody>
      </p:sp>
      <p:pic>
        <p:nvPicPr>
          <p:cNvPr id="18" name="Image 3" descr="/home/claude/deadmanswitch/icons/bell_white.png"/>
          <p:cNvPicPr>
            <a:picLocks noChangeAspect="1"/>
          </p:cNvPicPr>
          <p:nvPr/>
        </p:nvPicPr>
        <p:blipFill>
          <a:blip r:embed="rId6"/>
          <a:stretch>
            <a:fillRect/>
          </a:stretch>
        </p:blipFill>
        <p:spPr>
          <a:xfrm>
            <a:off x="851306" y="3800246"/>
            <a:ext cx="473659" cy="473659"/>
          </a:xfrm>
          <a:prstGeom prst="rect">
            <a:avLst/>
          </a:prstGeom>
        </p:spPr>
      </p:pic>
      <p:sp>
        <p:nvSpPr>
          <p:cNvPr id="19" name="Text 13"/>
          <p:cNvSpPr/>
          <p:nvPr/>
        </p:nvSpPr>
        <p:spPr>
          <a:xfrm>
            <a:off x="1554480" y="3328416"/>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Notify users before any action.</a:t>
            </a:r>
            <a:endParaRPr lang="en-US" sz="1250" dirty="0"/>
          </a:p>
        </p:txBody>
      </p:sp>
      <p:sp>
        <p:nvSpPr>
          <p:cNvPr id="20" name="Shape 14"/>
          <p:cNvSpPr/>
          <p:nvPr/>
        </p:nvSpPr>
        <p:spPr>
          <a:xfrm>
            <a:off x="4443984" y="3328416"/>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1" name="Shape 15"/>
          <p:cNvSpPr/>
          <p:nvPr/>
        </p:nvSpPr>
        <p:spPr>
          <a:xfrm>
            <a:off x="4663440" y="3717036"/>
            <a:ext cx="640080" cy="640080"/>
          </a:xfrm>
          <a:prstGeom prst="ellipse">
            <a:avLst/>
          </a:prstGeom>
          <a:solidFill>
            <a:srgbClr val="0B3D45"/>
          </a:solidFill>
          <a:ln/>
        </p:spPr>
        <p:txBody>
          <a:bodyPr/>
          <a:lstStyle/>
          <a:p>
            <a:endParaRPr lang="en-IN"/>
          </a:p>
        </p:txBody>
      </p:sp>
      <p:pic>
        <p:nvPicPr>
          <p:cNvPr id="22" name="Image 4" descr="/home/claude/deadmanswitch/icons/users_white.png"/>
          <p:cNvPicPr>
            <a:picLocks noChangeAspect="1"/>
          </p:cNvPicPr>
          <p:nvPr/>
        </p:nvPicPr>
        <p:blipFill>
          <a:blip r:embed="rId7"/>
          <a:stretch>
            <a:fillRect/>
          </a:stretch>
        </p:blipFill>
        <p:spPr>
          <a:xfrm>
            <a:off x="4746650" y="3800246"/>
            <a:ext cx="473659" cy="473659"/>
          </a:xfrm>
          <a:prstGeom prst="rect">
            <a:avLst/>
          </a:prstGeom>
        </p:spPr>
      </p:pic>
      <p:sp>
        <p:nvSpPr>
          <p:cNvPr id="23" name="Text 16"/>
          <p:cNvSpPr/>
          <p:nvPr/>
        </p:nvSpPr>
        <p:spPr>
          <a:xfrm>
            <a:off x="5449824" y="3328416"/>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Provide secure emergency access to trusted nominees.</a:t>
            </a:r>
            <a:endParaRPr lang="en-US" sz="1250" dirty="0"/>
          </a:p>
        </p:txBody>
      </p:sp>
      <p:sp>
        <p:nvSpPr>
          <p:cNvPr id="24" name="Shape 17"/>
          <p:cNvSpPr/>
          <p:nvPr/>
        </p:nvSpPr>
        <p:spPr>
          <a:xfrm>
            <a:off x="8339328" y="3328416"/>
            <a:ext cx="3639312" cy="1417320"/>
          </a:xfrm>
          <a:prstGeom prst="roundRect">
            <a:avLst>
              <a:gd name="adj" fmla="val 7742"/>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18"/>
          <p:cNvSpPr/>
          <p:nvPr/>
        </p:nvSpPr>
        <p:spPr>
          <a:xfrm>
            <a:off x="8558784" y="3717036"/>
            <a:ext cx="640080" cy="640080"/>
          </a:xfrm>
          <a:prstGeom prst="ellipse">
            <a:avLst/>
          </a:prstGeom>
          <a:solidFill>
            <a:srgbClr val="0B3D45"/>
          </a:solidFill>
          <a:ln/>
        </p:spPr>
        <p:txBody>
          <a:bodyPr/>
          <a:lstStyle/>
          <a:p>
            <a:endParaRPr lang="en-IN"/>
          </a:p>
        </p:txBody>
      </p:sp>
      <p:pic>
        <p:nvPicPr>
          <p:cNvPr id="26" name="Image 5" descr="/home/claude/deadmanswitch/icons/checkcircle_white.png"/>
          <p:cNvPicPr>
            <a:picLocks noChangeAspect="1"/>
          </p:cNvPicPr>
          <p:nvPr/>
        </p:nvPicPr>
        <p:blipFill>
          <a:blip r:embed="rId8"/>
          <a:stretch>
            <a:fillRect/>
          </a:stretch>
        </p:blipFill>
        <p:spPr>
          <a:xfrm>
            <a:off x="8641994" y="3800246"/>
            <a:ext cx="473659" cy="473659"/>
          </a:xfrm>
          <a:prstGeom prst="rect">
            <a:avLst/>
          </a:prstGeom>
        </p:spPr>
      </p:pic>
      <p:sp>
        <p:nvSpPr>
          <p:cNvPr id="27" name="Text 19"/>
          <p:cNvSpPr/>
          <p:nvPr/>
        </p:nvSpPr>
        <p:spPr>
          <a:xfrm>
            <a:off x="9345168" y="3328416"/>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Reduce confusion during emergencies.</a:t>
            </a:r>
            <a:endParaRPr lang="en-US" sz="1250" dirty="0"/>
          </a:p>
        </p:txBody>
      </p:sp>
      <p:sp>
        <p:nvSpPr>
          <p:cNvPr id="28" name="Shape 20"/>
          <p:cNvSpPr/>
          <p:nvPr/>
        </p:nvSpPr>
        <p:spPr>
          <a:xfrm>
            <a:off x="548640" y="4965192"/>
            <a:ext cx="3639312" cy="1417320"/>
          </a:xfrm>
          <a:prstGeom prst="roundRect">
            <a:avLst>
              <a:gd name="adj" fmla="val 7742"/>
            </a:avLst>
          </a:prstGeom>
          <a:solidFill>
            <a:srgbClr val="F4A300"/>
          </a:solidFill>
          <a:ln/>
          <a:effectLst>
            <a:outerShdw blurRad="101600" dist="38100" dir="5400000" algn="bl" rotWithShape="0">
              <a:srgbClr val="1B2A2E">
                <a:alpha val="18000"/>
              </a:srgbClr>
            </a:outerShdw>
          </a:effectLst>
        </p:spPr>
        <p:txBody>
          <a:bodyPr/>
          <a:lstStyle/>
          <a:p>
            <a:endParaRPr lang="en-IN"/>
          </a:p>
        </p:txBody>
      </p:sp>
      <p:sp>
        <p:nvSpPr>
          <p:cNvPr id="29" name="Shape 21"/>
          <p:cNvSpPr/>
          <p:nvPr/>
        </p:nvSpPr>
        <p:spPr>
          <a:xfrm>
            <a:off x="768096" y="5353812"/>
            <a:ext cx="640080" cy="640080"/>
          </a:xfrm>
          <a:prstGeom prst="ellipse">
            <a:avLst/>
          </a:prstGeom>
          <a:solidFill>
            <a:srgbClr val="0B3D45"/>
          </a:solidFill>
          <a:ln/>
        </p:spPr>
        <p:txBody>
          <a:bodyPr/>
          <a:lstStyle/>
          <a:p>
            <a:endParaRPr lang="en-IN"/>
          </a:p>
        </p:txBody>
      </p:sp>
      <p:pic>
        <p:nvPicPr>
          <p:cNvPr id="30" name="Image 6" descr="/home/claude/deadmanswitch/icons/chain_white.png"/>
          <p:cNvPicPr>
            <a:picLocks noChangeAspect="1"/>
          </p:cNvPicPr>
          <p:nvPr/>
        </p:nvPicPr>
        <p:blipFill>
          <a:blip r:embed="rId9"/>
          <a:stretch>
            <a:fillRect/>
          </a:stretch>
        </p:blipFill>
        <p:spPr>
          <a:xfrm>
            <a:off x="851306" y="5437022"/>
            <a:ext cx="473659" cy="473659"/>
          </a:xfrm>
          <a:prstGeom prst="rect">
            <a:avLst/>
          </a:prstGeom>
        </p:spPr>
      </p:pic>
      <p:sp>
        <p:nvSpPr>
          <p:cNvPr id="31" name="Text 22"/>
          <p:cNvSpPr/>
          <p:nvPr/>
        </p:nvSpPr>
        <p:spPr>
          <a:xfrm>
            <a:off x="1554480" y="4965192"/>
            <a:ext cx="2450592" cy="1417320"/>
          </a:xfrm>
          <a:prstGeom prst="rect">
            <a:avLst/>
          </a:prstGeom>
          <a:noFill/>
          <a:ln/>
        </p:spPr>
        <p:txBody>
          <a:bodyPr wrap="square" lIns="0" tIns="0" rIns="0" bIns="0" rtlCol="0" anchor="ctr"/>
          <a:lstStyle/>
          <a:p>
            <a:pPr marL="0" indent="0">
              <a:lnSpc>
                <a:spcPct val="110000"/>
              </a:lnSpc>
              <a:buNone/>
            </a:pPr>
            <a:r>
              <a:rPr lang="en-US" sz="1250" b="1" dirty="0">
                <a:solidFill>
                  <a:srgbClr val="0B3D45"/>
                </a:solidFill>
                <a:latin typeface="Calibri" pitchFamily="34" charset="0"/>
                <a:ea typeface="Calibri" pitchFamily="34" charset="-122"/>
                <a:cs typeface="Calibri" pitchFamily="34" charset="-120"/>
              </a:rPr>
              <a:t>Improve digital information management.</a:t>
            </a:r>
            <a:endParaRPr lang="en-US" sz="1250" dirty="0"/>
          </a:p>
        </p:txBody>
      </p:sp>
      <p:sp>
        <p:nvSpPr>
          <p:cNvPr id="32" name="Text 2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33" name="Text 24"/>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AF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000" b="1" dirty="0">
                <a:solidFill>
                  <a:srgbClr val="0B3D45"/>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548640" y="1645920"/>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5" name="Shape 3"/>
          <p:cNvSpPr/>
          <p:nvPr/>
        </p:nvSpPr>
        <p:spPr>
          <a:xfrm>
            <a:off x="1563624" y="1883664"/>
            <a:ext cx="640080" cy="640080"/>
          </a:xfrm>
          <a:prstGeom prst="ellipse">
            <a:avLst/>
          </a:prstGeom>
          <a:solidFill>
            <a:srgbClr val="0B3D45"/>
          </a:solidFill>
          <a:ln/>
        </p:spPr>
        <p:txBody>
          <a:bodyPr/>
          <a:lstStyle/>
          <a:p>
            <a:endParaRPr lang="en-IN"/>
          </a:p>
        </p:txBody>
      </p:sp>
      <p:pic>
        <p:nvPicPr>
          <p:cNvPr id="6" name="Image 0" descr="/home/claude/deadmanswitch/icons/mobile_white.png"/>
          <p:cNvPicPr>
            <a:picLocks noChangeAspect="1"/>
          </p:cNvPicPr>
          <p:nvPr/>
        </p:nvPicPr>
        <p:blipFill>
          <a:blip r:embed="rId3"/>
          <a:stretch>
            <a:fillRect/>
          </a:stretch>
        </p:blipFill>
        <p:spPr>
          <a:xfrm>
            <a:off x="1646834" y="1966874"/>
            <a:ext cx="473659" cy="473659"/>
          </a:xfrm>
          <a:prstGeom prst="rect">
            <a:avLst/>
          </a:prstGeom>
        </p:spPr>
      </p:pic>
      <p:sp>
        <p:nvSpPr>
          <p:cNvPr id="7" name="Text 4"/>
          <p:cNvSpPr/>
          <p:nvPr/>
        </p:nvSpPr>
        <p:spPr>
          <a:xfrm>
            <a:off x="676656" y="2697480"/>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Mobile Application</a:t>
            </a:r>
            <a:endParaRPr lang="en-US" sz="1150" dirty="0"/>
          </a:p>
        </p:txBody>
      </p:sp>
      <p:sp>
        <p:nvSpPr>
          <p:cNvPr id="8" name="Text 5"/>
          <p:cNvSpPr/>
          <p:nvPr/>
        </p:nvSpPr>
        <p:spPr>
          <a:xfrm>
            <a:off x="676656" y="3136392"/>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Access the vault anytime from a dedicated app.</a:t>
            </a:r>
            <a:endParaRPr lang="en-US" sz="930" dirty="0"/>
          </a:p>
        </p:txBody>
      </p:sp>
      <p:sp>
        <p:nvSpPr>
          <p:cNvPr id="9" name="Shape 6"/>
          <p:cNvSpPr/>
          <p:nvPr/>
        </p:nvSpPr>
        <p:spPr>
          <a:xfrm>
            <a:off x="3474720" y="1645920"/>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0" name="Shape 7"/>
          <p:cNvSpPr/>
          <p:nvPr/>
        </p:nvSpPr>
        <p:spPr>
          <a:xfrm>
            <a:off x="4489704" y="1883664"/>
            <a:ext cx="640080" cy="640080"/>
          </a:xfrm>
          <a:prstGeom prst="ellipse">
            <a:avLst/>
          </a:prstGeom>
          <a:solidFill>
            <a:srgbClr val="0B3D45"/>
          </a:solidFill>
          <a:ln/>
        </p:spPr>
        <p:txBody>
          <a:bodyPr/>
          <a:lstStyle/>
          <a:p>
            <a:endParaRPr lang="en-IN"/>
          </a:p>
        </p:txBody>
      </p:sp>
      <p:pic>
        <p:nvPicPr>
          <p:cNvPr id="11" name="Image 1" descr="/home/claude/deadmanswitch/icons/userlock_white.png"/>
          <p:cNvPicPr>
            <a:picLocks noChangeAspect="1"/>
          </p:cNvPicPr>
          <p:nvPr/>
        </p:nvPicPr>
        <p:blipFill>
          <a:blip r:embed="rId4"/>
          <a:stretch>
            <a:fillRect/>
          </a:stretch>
        </p:blipFill>
        <p:spPr>
          <a:xfrm>
            <a:off x="4572914" y="1966874"/>
            <a:ext cx="473659" cy="473659"/>
          </a:xfrm>
          <a:prstGeom prst="rect">
            <a:avLst/>
          </a:prstGeom>
        </p:spPr>
      </p:pic>
      <p:sp>
        <p:nvSpPr>
          <p:cNvPr id="12" name="Text 8"/>
          <p:cNvSpPr/>
          <p:nvPr/>
        </p:nvSpPr>
        <p:spPr>
          <a:xfrm>
            <a:off x="3602736" y="2697480"/>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Two-Factor Authentication</a:t>
            </a:r>
            <a:endParaRPr lang="en-US" sz="1150" dirty="0"/>
          </a:p>
        </p:txBody>
      </p:sp>
      <p:sp>
        <p:nvSpPr>
          <p:cNvPr id="13" name="Text 9"/>
          <p:cNvSpPr/>
          <p:nvPr/>
        </p:nvSpPr>
        <p:spPr>
          <a:xfrm>
            <a:off x="3602736" y="3136392"/>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Adds an extra layer of login security.</a:t>
            </a:r>
            <a:endParaRPr lang="en-US" sz="930" dirty="0"/>
          </a:p>
        </p:txBody>
      </p:sp>
      <p:sp>
        <p:nvSpPr>
          <p:cNvPr id="14" name="Shape 10"/>
          <p:cNvSpPr/>
          <p:nvPr/>
        </p:nvSpPr>
        <p:spPr>
          <a:xfrm>
            <a:off x="6400800" y="1645920"/>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15" name="Shape 11"/>
          <p:cNvSpPr/>
          <p:nvPr/>
        </p:nvSpPr>
        <p:spPr>
          <a:xfrm>
            <a:off x="7415784" y="1883664"/>
            <a:ext cx="640080" cy="640080"/>
          </a:xfrm>
          <a:prstGeom prst="ellipse">
            <a:avLst/>
          </a:prstGeom>
          <a:solidFill>
            <a:srgbClr val="0B3D45"/>
          </a:solidFill>
          <a:ln/>
        </p:spPr>
        <p:txBody>
          <a:bodyPr/>
          <a:lstStyle/>
          <a:p>
            <a:endParaRPr lang="en-IN"/>
          </a:p>
        </p:txBody>
      </p:sp>
      <p:pic>
        <p:nvPicPr>
          <p:cNvPr id="16" name="Image 2" descr="/home/claude/deadmanswitch/icons/cloud_white.png"/>
          <p:cNvPicPr>
            <a:picLocks noChangeAspect="1"/>
          </p:cNvPicPr>
          <p:nvPr/>
        </p:nvPicPr>
        <p:blipFill>
          <a:blip r:embed="rId5"/>
          <a:stretch>
            <a:fillRect/>
          </a:stretch>
        </p:blipFill>
        <p:spPr>
          <a:xfrm>
            <a:off x="7498994" y="1966874"/>
            <a:ext cx="473659" cy="473659"/>
          </a:xfrm>
          <a:prstGeom prst="rect">
            <a:avLst/>
          </a:prstGeom>
        </p:spPr>
      </p:pic>
      <p:sp>
        <p:nvSpPr>
          <p:cNvPr id="17" name="Text 12"/>
          <p:cNvSpPr/>
          <p:nvPr/>
        </p:nvSpPr>
        <p:spPr>
          <a:xfrm>
            <a:off x="6528816" y="2697480"/>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Cloud Storage Integration</a:t>
            </a:r>
            <a:endParaRPr lang="en-US" sz="1150" dirty="0"/>
          </a:p>
        </p:txBody>
      </p:sp>
      <p:sp>
        <p:nvSpPr>
          <p:cNvPr id="18" name="Text 13"/>
          <p:cNvSpPr/>
          <p:nvPr/>
        </p:nvSpPr>
        <p:spPr>
          <a:xfrm>
            <a:off x="6528816" y="3136392"/>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Sync vault data with cloud platforms.</a:t>
            </a:r>
            <a:endParaRPr lang="en-US" sz="930" dirty="0"/>
          </a:p>
        </p:txBody>
      </p:sp>
      <p:sp>
        <p:nvSpPr>
          <p:cNvPr id="19" name="Shape 14"/>
          <p:cNvSpPr/>
          <p:nvPr/>
        </p:nvSpPr>
        <p:spPr>
          <a:xfrm>
            <a:off x="9326880" y="1645920"/>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0" name="Shape 15"/>
          <p:cNvSpPr/>
          <p:nvPr/>
        </p:nvSpPr>
        <p:spPr>
          <a:xfrm>
            <a:off x="10341864" y="1883664"/>
            <a:ext cx="640080" cy="640080"/>
          </a:xfrm>
          <a:prstGeom prst="ellipse">
            <a:avLst/>
          </a:prstGeom>
          <a:solidFill>
            <a:srgbClr val="0B3D45"/>
          </a:solidFill>
          <a:ln/>
        </p:spPr>
        <p:txBody>
          <a:bodyPr/>
          <a:lstStyle/>
          <a:p>
            <a:endParaRPr lang="en-IN"/>
          </a:p>
        </p:txBody>
      </p:sp>
      <p:pic>
        <p:nvPicPr>
          <p:cNvPr id="21" name="Image 3" descr="/home/claude/deadmanswitch/icons/lock_white.png"/>
          <p:cNvPicPr>
            <a:picLocks noChangeAspect="1"/>
          </p:cNvPicPr>
          <p:nvPr/>
        </p:nvPicPr>
        <p:blipFill>
          <a:blip r:embed="rId6"/>
          <a:stretch>
            <a:fillRect/>
          </a:stretch>
        </p:blipFill>
        <p:spPr>
          <a:xfrm>
            <a:off x="10425074" y="1966874"/>
            <a:ext cx="473659" cy="473659"/>
          </a:xfrm>
          <a:prstGeom prst="rect">
            <a:avLst/>
          </a:prstGeom>
        </p:spPr>
      </p:pic>
      <p:sp>
        <p:nvSpPr>
          <p:cNvPr id="22" name="Text 16"/>
          <p:cNvSpPr/>
          <p:nvPr/>
        </p:nvSpPr>
        <p:spPr>
          <a:xfrm>
            <a:off x="9454896" y="2697480"/>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File Encryption (AES)</a:t>
            </a:r>
            <a:endParaRPr lang="en-US" sz="1150" dirty="0"/>
          </a:p>
        </p:txBody>
      </p:sp>
      <p:sp>
        <p:nvSpPr>
          <p:cNvPr id="23" name="Text 17"/>
          <p:cNvSpPr/>
          <p:nvPr/>
        </p:nvSpPr>
        <p:spPr>
          <a:xfrm>
            <a:off x="9454896" y="3136392"/>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Encrypts files for stronger data protection.</a:t>
            </a:r>
            <a:endParaRPr lang="en-US" sz="930" dirty="0"/>
          </a:p>
        </p:txBody>
      </p:sp>
      <p:sp>
        <p:nvSpPr>
          <p:cNvPr id="24" name="Shape 18"/>
          <p:cNvSpPr/>
          <p:nvPr/>
        </p:nvSpPr>
        <p:spPr>
          <a:xfrm>
            <a:off x="548640" y="3922776"/>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25" name="Shape 19"/>
          <p:cNvSpPr/>
          <p:nvPr/>
        </p:nvSpPr>
        <p:spPr>
          <a:xfrm>
            <a:off x="1563624" y="4160520"/>
            <a:ext cx="640080" cy="640080"/>
          </a:xfrm>
          <a:prstGeom prst="ellipse">
            <a:avLst/>
          </a:prstGeom>
          <a:solidFill>
            <a:srgbClr val="0B3D45"/>
          </a:solidFill>
          <a:ln/>
        </p:spPr>
        <p:txBody>
          <a:bodyPr/>
          <a:lstStyle/>
          <a:p>
            <a:endParaRPr lang="en-IN"/>
          </a:p>
        </p:txBody>
      </p:sp>
      <p:pic>
        <p:nvPicPr>
          <p:cNvPr id="26" name="Image 4" descr="/home/claude/deadmanswitch/icons/fingerprint_white.png"/>
          <p:cNvPicPr>
            <a:picLocks noChangeAspect="1"/>
          </p:cNvPicPr>
          <p:nvPr/>
        </p:nvPicPr>
        <p:blipFill>
          <a:blip r:embed="rId7"/>
          <a:stretch>
            <a:fillRect/>
          </a:stretch>
        </p:blipFill>
        <p:spPr>
          <a:xfrm>
            <a:off x="1646834" y="4243730"/>
            <a:ext cx="473659" cy="473659"/>
          </a:xfrm>
          <a:prstGeom prst="rect">
            <a:avLst/>
          </a:prstGeom>
        </p:spPr>
      </p:pic>
      <p:sp>
        <p:nvSpPr>
          <p:cNvPr id="27" name="Text 20"/>
          <p:cNvSpPr/>
          <p:nvPr/>
        </p:nvSpPr>
        <p:spPr>
          <a:xfrm>
            <a:off x="676656" y="4974336"/>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Biometric Authentication</a:t>
            </a:r>
            <a:endParaRPr lang="en-US" sz="1150" dirty="0"/>
          </a:p>
        </p:txBody>
      </p:sp>
      <p:sp>
        <p:nvSpPr>
          <p:cNvPr id="28" name="Text 21"/>
          <p:cNvSpPr/>
          <p:nvPr/>
        </p:nvSpPr>
        <p:spPr>
          <a:xfrm>
            <a:off x="676656" y="5413248"/>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Enables fingerprint or face-based login.</a:t>
            </a:r>
            <a:endParaRPr lang="en-US" sz="930" dirty="0"/>
          </a:p>
        </p:txBody>
      </p:sp>
      <p:sp>
        <p:nvSpPr>
          <p:cNvPr id="29" name="Shape 22"/>
          <p:cNvSpPr/>
          <p:nvPr/>
        </p:nvSpPr>
        <p:spPr>
          <a:xfrm>
            <a:off x="3474720" y="3922776"/>
            <a:ext cx="2670048" cy="2057400"/>
          </a:xfrm>
          <a:prstGeom prst="roundRect">
            <a:avLst>
              <a:gd name="adj" fmla="val 5333"/>
            </a:avLst>
          </a:prstGeom>
          <a:solidFill>
            <a:srgbClr val="FFFFFF"/>
          </a:solidFill>
          <a:ln/>
          <a:effectLst>
            <a:outerShdw blurRad="101600" dist="38100" dir="5400000" algn="bl" rotWithShape="0">
              <a:srgbClr val="1B2A2E">
                <a:alpha val="18000"/>
              </a:srgbClr>
            </a:outerShdw>
          </a:effectLst>
        </p:spPr>
        <p:txBody>
          <a:bodyPr/>
          <a:lstStyle/>
          <a:p>
            <a:endParaRPr lang="en-IN"/>
          </a:p>
        </p:txBody>
      </p:sp>
      <p:sp>
        <p:nvSpPr>
          <p:cNvPr id="30" name="Shape 23"/>
          <p:cNvSpPr/>
          <p:nvPr/>
        </p:nvSpPr>
        <p:spPr>
          <a:xfrm>
            <a:off x="4489704" y="4160520"/>
            <a:ext cx="640080" cy="640080"/>
          </a:xfrm>
          <a:prstGeom prst="ellipse">
            <a:avLst/>
          </a:prstGeom>
          <a:solidFill>
            <a:srgbClr val="0B3D45"/>
          </a:solidFill>
          <a:ln/>
        </p:spPr>
        <p:txBody>
          <a:bodyPr/>
          <a:lstStyle/>
          <a:p>
            <a:endParaRPr lang="en-IN"/>
          </a:p>
        </p:txBody>
      </p:sp>
      <p:pic>
        <p:nvPicPr>
          <p:cNvPr id="31" name="Image 5" descr="/home/claude/deadmanswitch/icons/mobile_white.png"/>
          <p:cNvPicPr>
            <a:picLocks noChangeAspect="1"/>
          </p:cNvPicPr>
          <p:nvPr/>
        </p:nvPicPr>
        <p:blipFill>
          <a:blip r:embed="rId3"/>
          <a:stretch>
            <a:fillRect/>
          </a:stretch>
        </p:blipFill>
        <p:spPr>
          <a:xfrm>
            <a:off x="4572914" y="4243730"/>
            <a:ext cx="473659" cy="473659"/>
          </a:xfrm>
          <a:prstGeom prst="rect">
            <a:avLst/>
          </a:prstGeom>
        </p:spPr>
      </p:pic>
      <p:sp>
        <p:nvSpPr>
          <p:cNvPr id="32" name="Text 24"/>
          <p:cNvSpPr/>
          <p:nvPr/>
        </p:nvSpPr>
        <p:spPr>
          <a:xfrm>
            <a:off x="3602736" y="4974336"/>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0B3D45"/>
                </a:solidFill>
                <a:latin typeface="Calibri" pitchFamily="34" charset="0"/>
                <a:ea typeface="Calibri" pitchFamily="34" charset="-122"/>
                <a:cs typeface="Calibri" pitchFamily="34" charset="-120"/>
              </a:rPr>
              <a:t>SMS Notifications</a:t>
            </a:r>
            <a:endParaRPr lang="en-US" sz="1150" dirty="0"/>
          </a:p>
        </p:txBody>
      </p:sp>
      <p:sp>
        <p:nvSpPr>
          <p:cNvPr id="33" name="Text 25"/>
          <p:cNvSpPr/>
          <p:nvPr/>
        </p:nvSpPr>
        <p:spPr>
          <a:xfrm>
            <a:off x="3602736" y="5413248"/>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5B7480"/>
                </a:solidFill>
                <a:latin typeface="Calibri" pitchFamily="34" charset="0"/>
                <a:ea typeface="Calibri" pitchFamily="34" charset="-122"/>
                <a:cs typeface="Calibri" pitchFamily="34" charset="-120"/>
              </a:rPr>
              <a:t>Sends reminders via text message.</a:t>
            </a:r>
            <a:endParaRPr lang="en-US" sz="930" dirty="0"/>
          </a:p>
        </p:txBody>
      </p:sp>
      <p:sp>
        <p:nvSpPr>
          <p:cNvPr id="34" name="Shape 26"/>
          <p:cNvSpPr/>
          <p:nvPr/>
        </p:nvSpPr>
        <p:spPr>
          <a:xfrm>
            <a:off x="6400800" y="3922776"/>
            <a:ext cx="2670048" cy="2057400"/>
          </a:xfrm>
          <a:prstGeom prst="roundRect">
            <a:avLst>
              <a:gd name="adj" fmla="val 5333"/>
            </a:avLst>
          </a:prstGeom>
          <a:solidFill>
            <a:srgbClr val="0B3D45"/>
          </a:solidFill>
          <a:ln/>
          <a:effectLst>
            <a:outerShdw blurRad="101600" dist="38100" dir="5400000" algn="bl" rotWithShape="0">
              <a:srgbClr val="1B2A2E">
                <a:alpha val="18000"/>
              </a:srgbClr>
            </a:outerShdw>
          </a:effectLst>
        </p:spPr>
        <p:txBody>
          <a:bodyPr/>
          <a:lstStyle/>
          <a:p>
            <a:endParaRPr lang="en-IN"/>
          </a:p>
        </p:txBody>
      </p:sp>
      <p:sp>
        <p:nvSpPr>
          <p:cNvPr id="35" name="Shape 27"/>
          <p:cNvSpPr/>
          <p:nvPr/>
        </p:nvSpPr>
        <p:spPr>
          <a:xfrm>
            <a:off x="7415784" y="4160520"/>
            <a:ext cx="640080" cy="640080"/>
          </a:xfrm>
          <a:prstGeom prst="ellipse">
            <a:avLst/>
          </a:prstGeom>
          <a:solidFill>
            <a:srgbClr val="F4A300"/>
          </a:solidFill>
          <a:ln/>
        </p:spPr>
        <p:txBody>
          <a:bodyPr/>
          <a:lstStyle/>
          <a:p>
            <a:endParaRPr lang="en-IN"/>
          </a:p>
        </p:txBody>
      </p:sp>
      <p:pic>
        <p:nvPicPr>
          <p:cNvPr id="36" name="Image 6" descr="/home/claude/deadmanswitch/icons/robot_white.png"/>
          <p:cNvPicPr>
            <a:picLocks noChangeAspect="1"/>
          </p:cNvPicPr>
          <p:nvPr/>
        </p:nvPicPr>
        <p:blipFill>
          <a:blip r:embed="rId8"/>
          <a:stretch>
            <a:fillRect/>
          </a:stretch>
        </p:blipFill>
        <p:spPr>
          <a:xfrm>
            <a:off x="7498994" y="4243730"/>
            <a:ext cx="473659" cy="473659"/>
          </a:xfrm>
          <a:prstGeom prst="rect">
            <a:avLst/>
          </a:prstGeom>
        </p:spPr>
      </p:pic>
      <p:sp>
        <p:nvSpPr>
          <p:cNvPr id="37" name="Text 28"/>
          <p:cNvSpPr/>
          <p:nvPr/>
        </p:nvSpPr>
        <p:spPr>
          <a:xfrm>
            <a:off x="6528816" y="4974336"/>
            <a:ext cx="2414016" cy="457200"/>
          </a:xfrm>
          <a:prstGeom prst="rect">
            <a:avLst/>
          </a:prstGeom>
          <a:noFill/>
          <a:ln/>
        </p:spPr>
        <p:txBody>
          <a:bodyPr wrap="square" lIns="0" tIns="0" rIns="0" bIns="0" rtlCol="0" anchor="t"/>
          <a:lstStyle/>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AI-based Activity Prediction</a:t>
            </a:r>
            <a:endParaRPr lang="en-US" sz="1150" dirty="0"/>
          </a:p>
        </p:txBody>
      </p:sp>
      <p:sp>
        <p:nvSpPr>
          <p:cNvPr id="38" name="Text 29"/>
          <p:cNvSpPr/>
          <p:nvPr/>
        </p:nvSpPr>
        <p:spPr>
          <a:xfrm>
            <a:off x="6528816" y="5413248"/>
            <a:ext cx="2414016" cy="530352"/>
          </a:xfrm>
          <a:prstGeom prst="rect">
            <a:avLst/>
          </a:prstGeom>
          <a:noFill/>
          <a:ln/>
        </p:spPr>
        <p:txBody>
          <a:bodyPr wrap="square" lIns="0" tIns="0" rIns="0" bIns="0" rtlCol="0" anchor="t"/>
          <a:lstStyle/>
          <a:p>
            <a:pPr marL="0" indent="0" algn="ctr">
              <a:lnSpc>
                <a:spcPct val="110000"/>
              </a:lnSpc>
              <a:buNone/>
            </a:pPr>
            <a:r>
              <a:rPr lang="en-US" sz="930" dirty="0">
                <a:solidFill>
                  <a:srgbClr val="E8F2F1"/>
                </a:solidFill>
                <a:latin typeface="Calibri" pitchFamily="34" charset="0"/>
                <a:ea typeface="Calibri" pitchFamily="34" charset="-122"/>
                <a:cs typeface="Calibri" pitchFamily="34" charset="-120"/>
              </a:rPr>
              <a:t>Predicts inactivity patterns using AI.</a:t>
            </a:r>
            <a:endParaRPr lang="en-US" sz="930" dirty="0"/>
          </a:p>
        </p:txBody>
      </p:sp>
      <p:sp>
        <p:nvSpPr>
          <p:cNvPr id="39" name="Text 30"/>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40" name="Text 31"/>
          <p:cNvSpPr/>
          <p:nvPr/>
        </p:nvSpPr>
        <p:spPr>
          <a:xfrm>
            <a:off x="11443855"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3D45"/>
        </a:solidFill>
        <a:effectLst/>
      </p:bgPr>
    </p:bg>
    <p:spTree>
      <p:nvGrpSpPr>
        <p:cNvPr id="1" name=""/>
        <p:cNvGrpSpPr/>
        <p:nvPr/>
      </p:nvGrpSpPr>
      <p:grpSpPr>
        <a:xfrm>
          <a:off x="0" y="0"/>
          <a:ext cx="0" cy="0"/>
          <a:chOff x="0" y="0"/>
          <a:chExt cx="0" cy="0"/>
        </a:xfrm>
      </p:grpSpPr>
      <p:sp>
        <p:nvSpPr>
          <p:cNvPr id="2" name="Shape 0"/>
          <p:cNvSpPr/>
          <p:nvPr/>
        </p:nvSpPr>
        <p:spPr>
          <a:xfrm>
            <a:off x="9875520" y="-2011680"/>
            <a:ext cx="5486400" cy="5486400"/>
          </a:xfrm>
          <a:prstGeom prst="ellipse">
            <a:avLst/>
          </a:prstGeom>
          <a:solidFill>
            <a:srgbClr val="13565F">
              <a:alpha val="60000"/>
            </a:srgbClr>
          </a:solidFill>
          <a:ln/>
        </p:spPr>
        <p:txBody>
          <a:bodyPr/>
          <a:lstStyle/>
          <a:p>
            <a:endParaRPr lang="en-IN"/>
          </a:p>
        </p:txBody>
      </p:sp>
      <p:sp>
        <p:nvSpPr>
          <p:cNvPr id="3" name="Shape 1"/>
          <p:cNvSpPr/>
          <p:nvPr/>
        </p:nvSpPr>
        <p:spPr>
          <a:xfrm>
            <a:off x="-2286000" y="4754880"/>
            <a:ext cx="4572000" cy="4572000"/>
          </a:xfrm>
          <a:prstGeom prst="ellipse">
            <a:avLst/>
          </a:prstGeom>
          <a:solidFill>
            <a:srgbClr val="14919B">
              <a:alpha val="22000"/>
            </a:srgbClr>
          </a:solidFill>
          <a:ln/>
        </p:spPr>
        <p:txBody>
          <a:bodyPr/>
          <a:lstStyle/>
          <a:p>
            <a:endParaRPr lang="en-IN"/>
          </a:p>
        </p:txBody>
      </p:sp>
      <p:sp>
        <p:nvSpPr>
          <p:cNvPr id="4" name="Text 2"/>
          <p:cNvSpPr/>
          <p:nvPr/>
        </p:nvSpPr>
        <p:spPr>
          <a:xfrm>
            <a:off x="731520" y="685800"/>
            <a:ext cx="54864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WRAP UP</a:t>
            </a:r>
            <a:endParaRPr lang="en-US" sz="1300" dirty="0"/>
          </a:p>
        </p:txBody>
      </p:sp>
      <p:sp>
        <p:nvSpPr>
          <p:cNvPr id="5" name="Text 3"/>
          <p:cNvSpPr/>
          <p:nvPr/>
        </p:nvSpPr>
        <p:spPr>
          <a:xfrm>
            <a:off x="731520" y="987552"/>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6" name="Shape 4"/>
          <p:cNvSpPr/>
          <p:nvPr/>
        </p:nvSpPr>
        <p:spPr>
          <a:xfrm>
            <a:off x="731520" y="1965960"/>
            <a:ext cx="1188720" cy="1188720"/>
          </a:xfrm>
          <a:prstGeom prst="ellipse">
            <a:avLst/>
          </a:prstGeom>
          <a:solidFill>
            <a:srgbClr val="13565F"/>
          </a:solidFill>
          <a:ln/>
        </p:spPr>
        <p:txBody>
          <a:bodyPr/>
          <a:lstStyle/>
          <a:p>
            <a:endParaRPr lang="en-IN"/>
          </a:p>
        </p:txBody>
      </p:sp>
      <p:pic>
        <p:nvPicPr>
          <p:cNvPr id="7" name="Image 0" descr="/home/claude/deadmanswitch/icons/safe_amber.png"/>
          <p:cNvPicPr>
            <a:picLocks noChangeAspect="1"/>
          </p:cNvPicPr>
          <p:nvPr/>
        </p:nvPicPr>
        <p:blipFill>
          <a:blip r:embed="rId3"/>
          <a:stretch>
            <a:fillRect/>
          </a:stretch>
        </p:blipFill>
        <p:spPr>
          <a:xfrm>
            <a:off x="886054" y="2120494"/>
            <a:ext cx="879653" cy="879653"/>
          </a:xfrm>
          <a:prstGeom prst="rect">
            <a:avLst/>
          </a:prstGeom>
        </p:spPr>
      </p:pic>
      <p:sp>
        <p:nvSpPr>
          <p:cNvPr id="8" name="Text 5"/>
          <p:cNvSpPr/>
          <p:nvPr/>
        </p:nvSpPr>
        <p:spPr>
          <a:xfrm>
            <a:off x="2194560" y="1874520"/>
            <a:ext cx="9235440" cy="1362456"/>
          </a:xfrm>
          <a:prstGeom prst="rect">
            <a:avLst/>
          </a:prstGeom>
          <a:noFill/>
          <a:ln/>
        </p:spPr>
        <p:txBody>
          <a:bodyPr wrap="square" lIns="0" tIns="0" rIns="0" bIns="0" rtlCol="0" anchor="t"/>
          <a:lstStyle/>
          <a:p>
            <a:pPr marL="0" indent="0">
              <a:lnSpc>
                <a:spcPct val="135000"/>
              </a:lnSpc>
              <a:buNone/>
            </a:pPr>
            <a:r>
              <a:rPr lang="en-US" sz="1550" dirty="0">
                <a:solidFill>
                  <a:srgbClr val="EAF3F2"/>
                </a:solidFill>
                <a:latin typeface="Calibri" pitchFamily="34" charset="0"/>
                <a:ea typeface="Calibri" pitchFamily="34" charset="-122"/>
                <a:cs typeface="Calibri" pitchFamily="34" charset="-120"/>
              </a:rPr>
              <a:t>The Dead-Man's-Switch Digital Vault provides a secure, reliable, and automated solution for protecting sensitive digital information and sharing it responsibly during emergencies. By combining secure storage, inactivity monitoring, and controlled nominee access, the project addresses a real-world problem while demonstrating practical web development and database skills.</a:t>
            </a:r>
            <a:endParaRPr lang="en-US" sz="1550" dirty="0"/>
          </a:p>
        </p:txBody>
      </p:sp>
      <p:sp>
        <p:nvSpPr>
          <p:cNvPr id="9" name="Shape 6"/>
          <p:cNvSpPr/>
          <p:nvPr/>
        </p:nvSpPr>
        <p:spPr>
          <a:xfrm>
            <a:off x="731520" y="4572000"/>
            <a:ext cx="2514600" cy="640080"/>
          </a:xfrm>
          <a:prstGeom prst="roundRect">
            <a:avLst>
              <a:gd name="adj" fmla="val 50000"/>
            </a:avLst>
          </a:prstGeom>
          <a:solidFill>
            <a:srgbClr val="13565F"/>
          </a:solidFill>
          <a:ln w="12700">
            <a:solidFill>
              <a:srgbClr val="14919B"/>
            </a:solidFill>
            <a:prstDash val="solid"/>
          </a:ln>
        </p:spPr>
        <p:txBody>
          <a:bodyPr/>
          <a:lstStyle/>
          <a:p>
            <a:endParaRPr lang="en-IN"/>
          </a:p>
        </p:txBody>
      </p:sp>
      <p:sp>
        <p:nvSpPr>
          <p:cNvPr id="10" name="Text 7"/>
          <p:cNvSpPr/>
          <p:nvPr/>
        </p:nvSpPr>
        <p:spPr>
          <a:xfrm>
            <a:off x="731520" y="4572000"/>
            <a:ext cx="2514600" cy="6400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Secure</a:t>
            </a:r>
            <a:endParaRPr lang="en-US" sz="1350" dirty="0"/>
          </a:p>
        </p:txBody>
      </p:sp>
      <p:sp>
        <p:nvSpPr>
          <p:cNvPr id="11" name="Shape 8"/>
          <p:cNvSpPr/>
          <p:nvPr/>
        </p:nvSpPr>
        <p:spPr>
          <a:xfrm>
            <a:off x="3520440" y="4572000"/>
            <a:ext cx="2514600" cy="640080"/>
          </a:xfrm>
          <a:prstGeom prst="roundRect">
            <a:avLst>
              <a:gd name="adj" fmla="val 50000"/>
            </a:avLst>
          </a:prstGeom>
          <a:solidFill>
            <a:srgbClr val="13565F"/>
          </a:solidFill>
          <a:ln w="12700">
            <a:solidFill>
              <a:srgbClr val="14919B"/>
            </a:solidFill>
            <a:prstDash val="solid"/>
          </a:ln>
        </p:spPr>
        <p:txBody>
          <a:bodyPr/>
          <a:lstStyle/>
          <a:p>
            <a:endParaRPr lang="en-IN"/>
          </a:p>
        </p:txBody>
      </p:sp>
      <p:sp>
        <p:nvSpPr>
          <p:cNvPr id="12" name="Text 9"/>
          <p:cNvSpPr/>
          <p:nvPr/>
        </p:nvSpPr>
        <p:spPr>
          <a:xfrm>
            <a:off x="3520440" y="4572000"/>
            <a:ext cx="2514600" cy="6400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Reliable</a:t>
            </a:r>
            <a:endParaRPr lang="en-US" sz="1350" dirty="0"/>
          </a:p>
        </p:txBody>
      </p:sp>
      <p:sp>
        <p:nvSpPr>
          <p:cNvPr id="13" name="Shape 10"/>
          <p:cNvSpPr/>
          <p:nvPr/>
        </p:nvSpPr>
        <p:spPr>
          <a:xfrm>
            <a:off x="6309360" y="4572000"/>
            <a:ext cx="2514600" cy="640080"/>
          </a:xfrm>
          <a:prstGeom prst="roundRect">
            <a:avLst>
              <a:gd name="adj" fmla="val 50000"/>
            </a:avLst>
          </a:prstGeom>
          <a:solidFill>
            <a:srgbClr val="13565F"/>
          </a:solidFill>
          <a:ln w="12700">
            <a:solidFill>
              <a:srgbClr val="14919B"/>
            </a:solidFill>
            <a:prstDash val="solid"/>
          </a:ln>
        </p:spPr>
        <p:txBody>
          <a:bodyPr/>
          <a:lstStyle/>
          <a:p>
            <a:endParaRPr lang="en-IN"/>
          </a:p>
        </p:txBody>
      </p:sp>
      <p:sp>
        <p:nvSpPr>
          <p:cNvPr id="14" name="Text 11"/>
          <p:cNvSpPr/>
          <p:nvPr/>
        </p:nvSpPr>
        <p:spPr>
          <a:xfrm>
            <a:off x="6309360" y="4572000"/>
            <a:ext cx="2514600" cy="6400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Automated</a:t>
            </a:r>
            <a:endParaRPr lang="en-US" sz="1350" dirty="0"/>
          </a:p>
        </p:txBody>
      </p:sp>
      <p:sp>
        <p:nvSpPr>
          <p:cNvPr id="15" name="Shape 12"/>
          <p:cNvSpPr/>
          <p:nvPr/>
        </p:nvSpPr>
        <p:spPr>
          <a:xfrm>
            <a:off x="9098280" y="4572000"/>
            <a:ext cx="2514600" cy="640080"/>
          </a:xfrm>
          <a:prstGeom prst="roundRect">
            <a:avLst>
              <a:gd name="adj" fmla="val 50000"/>
            </a:avLst>
          </a:prstGeom>
          <a:solidFill>
            <a:srgbClr val="13565F"/>
          </a:solidFill>
          <a:ln w="12700">
            <a:solidFill>
              <a:srgbClr val="14919B"/>
            </a:solidFill>
            <a:prstDash val="solid"/>
          </a:ln>
        </p:spPr>
        <p:txBody>
          <a:bodyPr/>
          <a:lstStyle/>
          <a:p>
            <a:endParaRPr lang="en-IN"/>
          </a:p>
        </p:txBody>
      </p:sp>
      <p:sp>
        <p:nvSpPr>
          <p:cNvPr id="16" name="Text 13"/>
          <p:cNvSpPr/>
          <p:nvPr/>
        </p:nvSpPr>
        <p:spPr>
          <a:xfrm>
            <a:off x="9098280" y="4572000"/>
            <a:ext cx="2514600" cy="6400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Practical</a:t>
            </a:r>
            <a:endParaRPr lang="en-US" sz="1350" dirty="0"/>
          </a:p>
        </p:txBody>
      </p:sp>
      <p:sp>
        <p:nvSpPr>
          <p:cNvPr id="17" name="Text 1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5B7480"/>
                </a:solidFill>
                <a:latin typeface="Calibri" pitchFamily="34" charset="0"/>
                <a:ea typeface="Calibri" pitchFamily="34" charset="-122"/>
                <a:cs typeface="Calibri" pitchFamily="34" charset="-120"/>
              </a:rPr>
              <a:t>Dead-Man's-Switch Digital Vault</a:t>
            </a:r>
            <a:endParaRPr lang="en-US" sz="900" dirty="0"/>
          </a:p>
        </p:txBody>
      </p:sp>
      <p:sp>
        <p:nvSpPr>
          <p:cNvPr id="18" name="Text 15"/>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5B74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3D45"/>
        </a:solidFill>
        <a:effectLst/>
      </p:bgPr>
    </p:bg>
    <p:spTree>
      <p:nvGrpSpPr>
        <p:cNvPr id="1" name=""/>
        <p:cNvGrpSpPr/>
        <p:nvPr/>
      </p:nvGrpSpPr>
      <p:grpSpPr>
        <a:xfrm>
          <a:off x="0" y="0"/>
          <a:ext cx="0" cy="0"/>
          <a:chOff x="0" y="0"/>
          <a:chExt cx="0" cy="0"/>
        </a:xfrm>
      </p:grpSpPr>
      <p:sp>
        <p:nvSpPr>
          <p:cNvPr id="2" name="Shape 0"/>
          <p:cNvSpPr/>
          <p:nvPr/>
        </p:nvSpPr>
        <p:spPr>
          <a:xfrm>
            <a:off x="9875520" y="-2011680"/>
            <a:ext cx="5486400" cy="5486400"/>
          </a:xfrm>
          <a:prstGeom prst="ellipse">
            <a:avLst/>
          </a:prstGeom>
          <a:solidFill>
            <a:srgbClr val="13565F">
              <a:alpha val="60000"/>
            </a:srgbClr>
          </a:solidFill>
          <a:ln/>
        </p:spPr>
        <p:txBody>
          <a:bodyPr/>
          <a:lstStyle/>
          <a:p>
            <a:endParaRPr lang="en-IN"/>
          </a:p>
        </p:txBody>
      </p:sp>
      <p:sp>
        <p:nvSpPr>
          <p:cNvPr id="3" name="Shape 1"/>
          <p:cNvSpPr/>
          <p:nvPr/>
        </p:nvSpPr>
        <p:spPr>
          <a:xfrm>
            <a:off x="-2286000" y="4754880"/>
            <a:ext cx="4572000" cy="4572000"/>
          </a:xfrm>
          <a:prstGeom prst="ellipse">
            <a:avLst/>
          </a:prstGeom>
          <a:solidFill>
            <a:srgbClr val="14919B">
              <a:alpha val="22000"/>
            </a:srgbClr>
          </a:solidFill>
          <a:ln/>
        </p:spPr>
        <p:txBody>
          <a:bodyPr/>
          <a:lstStyle/>
          <a:p>
            <a:endParaRPr lang="en-IN"/>
          </a:p>
        </p:txBody>
      </p:sp>
      <p:sp>
        <p:nvSpPr>
          <p:cNvPr id="4" name="Shape 2"/>
          <p:cNvSpPr/>
          <p:nvPr/>
        </p:nvSpPr>
        <p:spPr>
          <a:xfrm>
            <a:off x="4920341" y="806268"/>
            <a:ext cx="1594105" cy="1589460"/>
          </a:xfrm>
          <a:prstGeom prst="ellipse">
            <a:avLst/>
          </a:prstGeom>
          <a:solidFill>
            <a:srgbClr val="13565F"/>
          </a:solidFill>
          <a:ln/>
        </p:spPr>
        <p:txBody>
          <a:bodyPr/>
          <a:lstStyle/>
          <a:p>
            <a:endParaRPr lang="en-IN"/>
          </a:p>
        </p:txBody>
      </p:sp>
      <p:pic>
        <p:nvPicPr>
          <p:cNvPr id="5" name="Image 0" descr="/home/claude/deadmanswitch/icons/safe_amber.png"/>
          <p:cNvPicPr>
            <a:picLocks noChangeAspect="1"/>
          </p:cNvPicPr>
          <p:nvPr/>
        </p:nvPicPr>
        <p:blipFill>
          <a:blip r:embed="rId3"/>
          <a:stretch>
            <a:fillRect/>
          </a:stretch>
        </p:blipFill>
        <p:spPr>
          <a:xfrm>
            <a:off x="5156500" y="984576"/>
            <a:ext cx="1179638" cy="1179638"/>
          </a:xfrm>
          <a:prstGeom prst="rect">
            <a:avLst/>
          </a:prstGeom>
        </p:spPr>
      </p:pic>
      <p:sp>
        <p:nvSpPr>
          <p:cNvPr id="6" name="Shape 3"/>
          <p:cNvSpPr/>
          <p:nvPr/>
        </p:nvSpPr>
        <p:spPr>
          <a:xfrm>
            <a:off x="4949371" y="806268"/>
            <a:ext cx="1594105" cy="1589460"/>
          </a:xfrm>
          <a:prstGeom prst="ellipse">
            <a:avLst/>
          </a:prstGeom>
          <a:ln w="25400">
            <a:solidFill>
              <a:srgbClr val="F4A300"/>
            </a:solidFill>
            <a:prstDash val="solid"/>
          </a:ln>
        </p:spPr>
        <p:txBody>
          <a:bodyPr/>
          <a:lstStyle/>
          <a:p>
            <a:endParaRPr lang="en-IN"/>
          </a:p>
        </p:txBody>
      </p:sp>
      <p:sp>
        <p:nvSpPr>
          <p:cNvPr id="7" name="Text 4"/>
          <p:cNvSpPr/>
          <p:nvPr/>
        </p:nvSpPr>
        <p:spPr>
          <a:xfrm>
            <a:off x="2658293" y="2619972"/>
            <a:ext cx="6311536" cy="1975104"/>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8" name="Text 5"/>
          <p:cNvSpPr/>
          <p:nvPr/>
        </p:nvSpPr>
        <p:spPr>
          <a:xfrm>
            <a:off x="0" y="3108960"/>
            <a:ext cx="12188952" cy="457200"/>
          </a:xfrm>
          <a:prstGeom prst="rect">
            <a:avLst/>
          </a:prstGeom>
          <a:noFill/>
          <a:ln/>
        </p:spPr>
        <p:txBody>
          <a:bodyPr wrap="square" lIns="0" tIns="0" rIns="0" bIns="0" rtlCol="0" anchor="ctr"/>
          <a:lstStyle/>
          <a:p>
            <a:pPr marL="0" indent="0" algn="ctr">
              <a:buNone/>
            </a:pPr>
            <a:endParaRPr lang="en-US" sz="1700" dirty="0"/>
          </a:p>
        </p:txBody>
      </p:sp>
      <p:sp>
        <p:nvSpPr>
          <p:cNvPr id="10" name="Text 7"/>
          <p:cNvSpPr/>
          <p:nvPr/>
        </p:nvSpPr>
        <p:spPr>
          <a:xfrm>
            <a:off x="2788920" y="4279392"/>
            <a:ext cx="6611112" cy="228600"/>
          </a:xfrm>
          <a:prstGeom prst="rect">
            <a:avLst/>
          </a:prstGeom>
          <a:noFill/>
          <a:ln/>
        </p:spPr>
        <p:txBody>
          <a:bodyPr wrap="square" lIns="0" tIns="0" rIns="0" bIns="0" rtlCol="0" anchor="ctr"/>
          <a:lstStyle/>
          <a:p>
            <a:pPr marL="0" indent="0" algn="ctr">
              <a:buNone/>
            </a:pPr>
            <a:endParaRPr lang="en-US" sz="900" dirty="0"/>
          </a:p>
        </p:txBody>
      </p:sp>
      <p:sp>
        <p:nvSpPr>
          <p:cNvPr id="11" name="Text 8"/>
          <p:cNvSpPr/>
          <p:nvPr/>
        </p:nvSpPr>
        <p:spPr>
          <a:xfrm>
            <a:off x="2788920" y="4553712"/>
            <a:ext cx="6611112" cy="502920"/>
          </a:xfrm>
          <a:prstGeom prst="rect">
            <a:avLst/>
          </a:prstGeom>
          <a:noFill/>
          <a:ln/>
        </p:spPr>
        <p:txBody>
          <a:bodyPr wrap="square" lIns="0" tIns="0" rIns="0" bIns="0" rtlCol="0" anchor="ctr"/>
          <a:lstStyle/>
          <a:p>
            <a:pPr marL="0" indent="0" algn="ctr">
              <a:buNone/>
            </a:pPr>
            <a:endParaRPr lang="en-US" sz="1300" dirty="0"/>
          </a:p>
        </p:txBody>
      </p:sp>
      <p:sp>
        <p:nvSpPr>
          <p:cNvPr id="12" name="Text 9"/>
          <p:cNvSpPr/>
          <p:nvPr/>
        </p:nvSpPr>
        <p:spPr>
          <a:xfrm>
            <a:off x="1965960" y="5440680"/>
            <a:ext cx="8257032" cy="365760"/>
          </a:xfrm>
          <a:prstGeom prst="rect">
            <a:avLst/>
          </a:prstGeom>
          <a:noFill/>
          <a:ln/>
        </p:spPr>
        <p:txBody>
          <a:bodyPr wrap="square" lIns="0" tIns="0" rIns="0" bIns="0" rtlCol="0" anchor="ctr"/>
          <a:lstStyle/>
          <a:p>
            <a:pPr marL="0" indent="0" algn="ct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948</TotalTime>
  <Words>781</Words>
  <Application>Microsoft Office PowerPoint</Application>
  <PresentationFormat>Widescreen</PresentationFormat>
  <Paragraphs>198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S0997831</cp:lastModifiedBy>
  <cp:revision>5</cp:revision>
  <dcterms:created xsi:type="dcterms:W3CDTF">2026-07-21T02:24:27Z</dcterms:created>
  <dcterms:modified xsi:type="dcterms:W3CDTF">2026-07-22T15:02:19Z</dcterms:modified>
</cp:coreProperties>
</file>